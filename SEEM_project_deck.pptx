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15600" cy="1463040"/>
          </a:xfrm>
          <a:prstGeom prst="rect">
            <a:avLst/>
          </a:prstGeom>
          <a:noFill/>
        </p:spPr>
        <p:txBody>
          <a:bodyPr wrap="square" lIns="0" rIns="0" tIns="0" bIns="0">
            <a:spAutoFit/>
          </a:bodyPr>
          <a:lstStyle/>
          <a:p>
            <a:r>
              <a:rPr sz="4000" b="1">
                <a:solidFill>
                  <a:srgbClr val="1E2761"/>
                </a:solidFill>
                <a:latin typeface="Calibri"/>
              </a:rPr>
              <a:t>A fitted law for yield events</a:t>
            </a:r>
          </a:p>
        </p:txBody>
      </p:sp>
      <p:sp>
        <p:nvSpPr>
          <p:cNvPr id="3" name="TextBox 2"/>
          <p:cNvSpPr txBox="1"/>
          <p:nvPr/>
        </p:nvSpPr>
        <p:spPr>
          <a:xfrm>
            <a:off x="822960" y="3200400"/>
            <a:ext cx="10515600" cy="822960"/>
          </a:xfrm>
          <a:prstGeom prst="rect">
            <a:avLst/>
          </a:prstGeom>
          <a:noFill/>
        </p:spPr>
        <p:txBody>
          <a:bodyPr wrap="square" lIns="0" rIns="0" tIns="0" bIns="0">
            <a:spAutoFit/>
          </a:bodyPr>
          <a:lstStyle/>
          <a:p>
            <a:r>
              <a:rPr sz="1900" b="0">
                <a:solidFill>
                  <a:srgbClr val="212121"/>
                </a:solidFill>
                <a:latin typeface="Calibri"/>
              </a:rPr>
              <a:t>The variables, the symbolic-regression search, the discovered size law and how it performs, the forward model built on it, and the fix for where it fails</a:t>
            </a:r>
          </a:p>
        </p:txBody>
      </p:sp>
      <p:sp>
        <p:nvSpPr>
          <p:cNvPr id="4" name="TextBox 3"/>
          <p:cNvSpPr txBox="1"/>
          <p:nvPr/>
        </p:nvSpPr>
        <p:spPr>
          <a:xfrm>
            <a:off x="822960" y="4206240"/>
            <a:ext cx="10515600" cy="411480"/>
          </a:xfrm>
          <a:prstGeom prst="rect">
            <a:avLst/>
          </a:prstGeom>
          <a:noFill/>
        </p:spPr>
        <p:txBody>
          <a:bodyPr wrap="square" lIns="0" rIns="0" tIns="0" bIns="0">
            <a:spAutoFit/>
          </a:bodyPr>
          <a:lstStyle/>
          <a:p>
            <a:r>
              <a:rPr sz="1500" b="0">
                <a:solidFill>
                  <a:srgbClr val="6E7B85"/>
                </a:solidFill>
                <a:latin typeface="Calibri"/>
              </a:rPr>
              <a:t>SEEM project, September 4, 2026</a:t>
            </a:r>
          </a:p>
        </p:txBody>
      </p:sp>
      <p:sp>
        <p:nvSpPr>
          <p:cNvPr id="5" name="TextBox 4"/>
          <p:cNvSpPr txBox="1"/>
          <p:nvPr/>
        </p:nvSpPr>
        <p:spPr>
          <a:xfrm>
            <a:off x="822960" y="5943600"/>
            <a:ext cx="10515600" cy="365760"/>
          </a:xfrm>
          <a:prstGeom prst="rect">
            <a:avLst/>
          </a:prstGeom>
          <a:noFill/>
        </p:spPr>
        <p:txBody>
          <a:bodyPr wrap="square" lIns="0" rIns="0" tIns="0" bIns="0">
            <a:spAutoFit/>
          </a:bodyPr>
          <a:lstStyle/>
          <a:p>
            <a:r>
              <a:rPr sz="1300" b="0">
                <a:solidFill>
                  <a:srgbClr val="6E7B85"/>
                </a:solidFill>
                <a:latin typeface="Calibri"/>
              </a:rPr>
              <a:t>AQS shear of a model glass, 850 runs, nine cooling rates, 187,468 stress drops. Every number here is regenerated by pipeline/run_all.sh.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1E2761"/>
                </a:solidFill>
                <a:latin typeface="Calibri"/>
              </a:rPr>
              <a:t>The variables</a:t>
            </a:r>
          </a:p>
        </p:txBody>
      </p:sp>
      <p:sp>
        <p:nvSpPr>
          <p:cNvPr id="3" name="TextBox 2"/>
          <p:cNvSpPr txBox="1"/>
          <p:nvPr/>
        </p:nvSpPr>
        <p:spPr>
          <a:xfrm>
            <a:off x="640080" y="1234440"/>
            <a:ext cx="5394960" cy="4114800"/>
          </a:xfrm>
          <a:prstGeom prst="rect">
            <a:avLst/>
          </a:prstGeom>
          <a:noFill/>
        </p:spPr>
        <p:txBody>
          <a:bodyPr wrap="square" lIns="0" rIns="0" tIns="0" bIns="0">
            <a:spAutoFit/>
          </a:bodyPr>
          <a:lstStyle/>
          <a:p>
            <a:pPr>
              <a:spcAft>
                <a:spcPts val="1100"/>
              </a:spcAft>
            </a:pPr>
            <a:r>
              <a:rPr sz="1600" b="0">
                <a:solidFill>
                  <a:srgbClr val="1E2761"/>
                </a:solidFill>
                <a:latin typeface="Cambria Math"/>
              </a:rPr>
              <a:t>γ   </a:t>
            </a:r>
            <a:r>
              <a:rPr sz="1500" b="0">
                <a:solidFill>
                  <a:srgbClr val="212121"/>
                </a:solidFill>
                <a:latin typeface="Calibri"/>
              </a:rPr>
              <a:t>applied shear strain; one step is 10⁻⁵, runs go to 0.5</a:t>
            </a:r>
          </a:p>
          <a:p>
            <a:pPr>
              <a:spcAft>
                <a:spcPts val="1100"/>
              </a:spcAft>
            </a:pPr>
            <a:r>
              <a:rPr sz="1600" b="0">
                <a:solidFill>
                  <a:srgbClr val="1E2761"/>
                </a:solidFill>
                <a:latin typeface="Cambria Math"/>
              </a:rPr>
              <a:t>τ   </a:t>
            </a:r>
            <a:r>
              <a:rPr sz="1500" b="0">
                <a:solidFill>
                  <a:srgbClr val="212121"/>
                </a:solidFill>
                <a:latin typeface="Calibri"/>
              </a:rPr>
              <a:t>shear stress (raw stress ÷ 10⁴)</a:t>
            </a:r>
          </a:p>
          <a:p>
            <a:pPr>
              <a:spcAft>
                <a:spcPts val="1100"/>
              </a:spcAft>
            </a:pPr>
            <a:r>
              <a:rPr sz="1600" b="0">
                <a:solidFill>
                  <a:srgbClr val="1E2761"/>
                </a:solidFill>
                <a:latin typeface="Cambria Math"/>
              </a:rPr>
              <a:t>u = pe − u₀   </a:t>
            </a:r>
            <a:r>
              <a:rPr sz="1500" b="0">
                <a:solidFill>
                  <a:srgbClr val="212121"/>
                </a:solidFill>
                <a:latin typeface="Calibri"/>
              </a:rPr>
              <a:t>potential energy per atom above the reference u₀ = −4.60752; high u is a poorly annealed glass</a:t>
            </a:r>
          </a:p>
          <a:p>
            <a:pPr>
              <a:spcAft>
                <a:spcPts val="1100"/>
              </a:spcAft>
            </a:pPr>
            <a:r>
              <a:rPr sz="1600" b="0">
                <a:solidFill>
                  <a:srgbClr val="1E2761"/>
                </a:solidFill>
                <a:latin typeface="Cambria Math"/>
              </a:rPr>
              <a:t>(u, τ)   </a:t>
            </a:r>
            <a:r>
              <a:rPr sz="1500" b="0">
                <a:solidFill>
                  <a:srgbClr val="212121"/>
                </a:solidFill>
                <a:latin typeface="Calibri"/>
              </a:rPr>
              <a:t>the two-coordinate state of a run; every field lives on a 20 × 20 grid over this plane, plus a catch-all ring</a:t>
            </a:r>
          </a:p>
          <a:p>
            <a:pPr>
              <a:spcAft>
                <a:spcPts val="1100"/>
              </a:spcAft>
            </a:pPr>
            <a:r>
              <a:rPr sz="1600" b="0">
                <a:solidFill>
                  <a:srgbClr val="1E2761"/>
                </a:solidFill>
                <a:latin typeface="Cambria Math"/>
              </a:rPr>
              <a:t>2μ(u, τ)   </a:t>
            </a:r>
            <a:r>
              <a:rPr sz="1500" b="0">
                <a:solidFill>
                  <a:srgbClr val="212121"/>
                </a:solidFill>
                <a:latin typeface="Calibri"/>
              </a:rPr>
              <a:t>elastic modulus, the slope dτ/dγ on elastic steps (about 20)</a:t>
            </a:r>
          </a:p>
          <a:p>
            <a:pPr>
              <a:spcAft>
                <a:spcPts val="1100"/>
              </a:spcAft>
            </a:pPr>
            <a:r>
              <a:rPr sz="1600" b="0">
                <a:solidFill>
                  <a:srgbClr val="1E2761"/>
                </a:solidFill>
                <a:latin typeface="Cambria Math"/>
              </a:rPr>
              <a:t>s = −Δτ   </a:t>
            </a:r>
            <a:r>
              <a:rPr sz="1500" b="0">
                <a:solidFill>
                  <a:srgbClr val="212121"/>
                </a:solidFill>
                <a:latin typeface="Calibri"/>
              </a:rPr>
              <a:t>an event: a step where the stress drops, of size s; 187,468 of them, from 10⁻⁶ to 1.16</a:t>
            </a:r>
          </a:p>
        </p:txBody>
      </p:sp>
      <p:sp>
        <p:nvSpPr>
          <p:cNvPr id="4" name="TextBox 3"/>
          <p:cNvSpPr txBox="1"/>
          <p:nvPr/>
        </p:nvSpPr>
        <p:spPr>
          <a:xfrm>
            <a:off x="6355080" y="1234440"/>
            <a:ext cx="5303520" cy="4114800"/>
          </a:xfrm>
          <a:prstGeom prst="rect">
            <a:avLst/>
          </a:prstGeom>
          <a:noFill/>
        </p:spPr>
        <p:txBody>
          <a:bodyPr wrap="square" lIns="0" rIns="0" tIns="0" bIns="0">
            <a:spAutoFit/>
          </a:bodyPr>
          <a:lstStyle/>
          <a:p>
            <a:pPr>
              <a:spcAft>
                <a:spcPts val="1100"/>
              </a:spcAft>
            </a:pPr>
            <a:r>
              <a:rPr sz="1600" b="0">
                <a:solidFill>
                  <a:srgbClr val="1E2761"/>
                </a:solidFill>
                <a:latin typeface="Cambria Math"/>
              </a:rPr>
              <a:t>p(u, τ)   </a:t>
            </a:r>
            <a:r>
              <a:rPr sz="1500" b="0">
                <a:solidFill>
                  <a:srgbClr val="212121"/>
                </a:solidFill>
                <a:latin typeface="Calibri"/>
              </a:rPr>
              <a:t>event hazard: the probability per step that an event fires at this state (median about 0.3% per step)</a:t>
            </a:r>
          </a:p>
          <a:p>
            <a:pPr>
              <a:spcAft>
                <a:spcPts val="1100"/>
              </a:spcAft>
            </a:pPr>
            <a:r>
              <a:rPr sz="1600" b="0">
                <a:solidFill>
                  <a:srgbClr val="1E2761"/>
                </a:solidFill>
                <a:latin typeface="Cambria Math"/>
              </a:rPr>
              <a:t>P(s | u, τ)   </a:t>
            </a:r>
            <a:r>
              <a:rPr sz="1500" b="0">
                <a:solidFill>
                  <a:srgbClr val="212121"/>
                </a:solidFill>
                <a:latin typeface="Calibri"/>
              </a:rPr>
              <a:t>the size distribution of events at a given state, the object we fit</a:t>
            </a:r>
          </a:p>
          <a:p>
            <a:pPr>
              <a:spcAft>
                <a:spcPts val="1100"/>
              </a:spcAft>
            </a:pPr>
            <a:r>
              <a:rPr sz="1600" b="0">
                <a:solidFill>
                  <a:srgbClr val="1E2761"/>
                </a:solidFill>
                <a:latin typeface="Cambria Math"/>
              </a:rPr>
              <a:t>s_c(u, τ)   </a:t>
            </a:r>
            <a:r>
              <a:rPr sz="1500" b="0">
                <a:solidFill>
                  <a:srgbClr val="212121"/>
                </a:solidFill>
                <a:latin typeface="Calibri"/>
              </a:rPr>
              <a:t>the ceiling: the largest event a state can produce; the only state-dependent parameter of the law</a:t>
            </a:r>
          </a:p>
          <a:p>
            <a:pPr>
              <a:spcAft>
                <a:spcPts val="1100"/>
              </a:spcAft>
            </a:pPr>
            <a:r>
              <a:rPr sz="1600" b="0">
                <a:solidFill>
                  <a:srgbClr val="1E2761"/>
                </a:solidFill>
                <a:latin typeface="Cambria Math"/>
              </a:rPr>
              <a:t>k, m, ε   </a:t>
            </a:r>
            <a:r>
              <a:rPr sz="1500" b="0">
                <a:solidFill>
                  <a:srgbClr val="212121"/>
                </a:solidFill>
                <a:latin typeface="Calibri"/>
              </a:rPr>
              <a:t>the law’s three global constants (small-size exponent, ceiling exponent, rounding scale)</a:t>
            </a:r>
          </a:p>
          <a:p>
            <a:pPr>
              <a:spcAft>
                <a:spcPts val="1100"/>
              </a:spcAft>
            </a:pPr>
            <a:r>
              <a:rPr sz="1600" b="0">
                <a:solidFill>
                  <a:srgbClr val="1E2761"/>
                </a:solidFill>
                <a:latin typeface="Cambria Math"/>
              </a:rPr>
              <a:t>q(u, τ)   </a:t>
            </a:r>
            <a:r>
              <a:rPr sz="1500" b="0">
                <a:solidFill>
                  <a:srgbClr val="212121"/>
                </a:solidFill>
                <a:latin typeface="Calibri"/>
              </a:rPr>
              <a:t>plastic fraction of the strain rate, q = 1 − (dτ/dγ)/2μ; 0 is elastic, 1 is steady flow</a:t>
            </a:r>
          </a:p>
          <a:p>
            <a:pPr>
              <a:spcAft>
                <a:spcPts val="1100"/>
              </a:spcAft>
            </a:pPr>
            <a:r>
              <a:rPr sz="1600" b="0">
                <a:solidFill>
                  <a:srgbClr val="1E2761"/>
                </a:solidFill>
                <a:latin typeface="Cambria Math"/>
              </a:rPr>
              <a:t>aging event   </a:t>
            </a:r>
            <a:r>
              <a:rPr sz="1500" b="0">
                <a:solidFill>
                  <a:srgbClr val="212121"/>
                </a:solidFill>
                <a:latin typeface="Calibri"/>
              </a:rPr>
              <a:t>a step where u drops but τ does not (105,188); it relaxes energy without releasing stress</a:t>
            </a:r>
          </a:p>
        </p:txBody>
      </p:sp>
      <p:sp>
        <p:nvSpPr>
          <p:cNvPr id="5" name="Rounded Rectangle 4"/>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Each AQS step is either an elastic increment or an event. The model needs the drift, the hazard, and the size distribution of events; the last is the one we fit.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1E2761"/>
                </a:solidFill>
                <a:latin typeface="Calibri"/>
              </a:rPr>
              <a:t>The symbolic-regression library  (library/symreg.py)</a:t>
            </a:r>
          </a:p>
        </p:txBody>
      </p:sp>
      <p:sp>
        <p:nvSpPr>
          <p:cNvPr id="3" name="TextBox 2"/>
          <p:cNvSpPr txBox="1"/>
          <p:nvPr/>
        </p:nvSpPr>
        <p:spPr>
          <a:xfrm>
            <a:off x="640080" y="1234440"/>
            <a:ext cx="5394960" cy="4480560"/>
          </a:xfrm>
          <a:prstGeom prst="rect">
            <a:avLst/>
          </a:prstGeom>
          <a:noFill/>
        </p:spPr>
        <p:txBody>
          <a:bodyPr wrap="square" lIns="0" rIns="0" tIns="0" bIns="0">
            <a:spAutoFit/>
          </a:bodyPr>
          <a:lstStyle/>
          <a:p>
            <a:pPr>
              <a:spcAft>
                <a:spcPts val="600"/>
              </a:spcAft>
            </a:pPr>
            <a:r>
              <a:rPr sz="1600" b="1">
                <a:solidFill>
                  <a:srgbClr val="1E2761"/>
                </a:solidFill>
                <a:latin typeface="Calibri"/>
              </a:rPr>
              <a:t>What it does</a:t>
            </a:r>
          </a:p>
          <a:p>
            <a:pPr marL="228600" indent="-228600">
              <a:spcAft>
                <a:spcPts val="800"/>
              </a:spcAft>
              <a:buChar char="•"/>
            </a:pPr>
            <a:r>
              <a:rPr sz="1500" b="0">
                <a:solidFill>
                  <a:srgbClr val="212121"/>
                </a:solidFill>
                <a:latin typeface="Calibri"/>
              </a:rPr>
              <a:t>Given points (x, y), it searches for a formula y = a·f(x) + b over a grammar of operators (exp, log, 1/x, x², √x, and + − × ÷) with up to two fitted constants inside f</a:t>
            </a:r>
          </a:p>
          <a:p>
            <a:pPr marL="228600" indent="-228600">
              <a:spcAft>
                <a:spcPts val="800"/>
              </a:spcAft>
              <a:buChar char="•"/>
            </a:pPr>
            <a:r>
              <a:rPr sz="1500" b="0">
                <a:solidFill>
                  <a:srgbClr val="212121"/>
                </a:solidFill>
                <a:latin typeface="Calibri"/>
              </a:rPr>
              <a:t>For one-variable targets it enumerates every formula up to a complexity budget rather than sampling them, so "the search did not find X" is a checkable statement</a:t>
            </a:r>
          </a:p>
          <a:p>
            <a:pPr marL="228600" indent="-228600">
              <a:spcAft>
                <a:spcPts val="800"/>
              </a:spcAft>
              <a:buChar char="•"/>
            </a:pPr>
            <a:r>
              <a:rPr sz="1500" b="0">
                <a:solidFill>
                  <a:srgbClr val="212121"/>
                </a:solidFill>
                <a:latin typeface="Calibri"/>
              </a:rPr>
              <a:t>It returns the exact Pareto front: the best misfit at each complexity. The form at the knee is the candidate</a:t>
            </a:r>
          </a:p>
          <a:p>
            <a:pPr marL="228600" indent="-228600">
              <a:spcAft>
                <a:spcPts val="800"/>
              </a:spcAft>
              <a:buChar char="•"/>
            </a:pPr>
            <a:r>
              <a:rPr sz="1500" b="0">
                <a:solidFill>
                  <a:srgbClr val="212121"/>
                </a:solidFill>
                <a:latin typeface="Calibri"/>
              </a:rPr>
              <a:t>Physics is imposed as a filter, not a prior: here, only densities that decrease with s are admitted</a:t>
            </a:r>
          </a:p>
        </p:txBody>
      </p:sp>
      <p:sp>
        <p:nvSpPr>
          <p:cNvPr id="4" name="TextBox 3"/>
          <p:cNvSpPr txBox="1"/>
          <p:nvPr/>
        </p:nvSpPr>
        <p:spPr>
          <a:xfrm>
            <a:off x="6355080" y="1234440"/>
            <a:ext cx="5303520" cy="4480560"/>
          </a:xfrm>
          <a:prstGeom prst="rect">
            <a:avLst/>
          </a:prstGeom>
          <a:noFill/>
        </p:spPr>
        <p:txBody>
          <a:bodyPr wrap="square" lIns="0" rIns="0" tIns="0" bIns="0">
            <a:spAutoFit/>
          </a:bodyPr>
          <a:lstStyle/>
          <a:p>
            <a:pPr>
              <a:spcAft>
                <a:spcPts val="600"/>
              </a:spcAft>
            </a:pPr>
            <a:r>
              <a:rPr sz="1600" b="1">
                <a:solidFill>
                  <a:srgbClr val="1E2761"/>
                </a:solidFill>
                <a:latin typeface="Calibri"/>
              </a:rPr>
              <a:t>How it was used here</a:t>
            </a:r>
          </a:p>
          <a:p>
            <a:pPr marL="228600" indent="-228600">
              <a:spcAft>
                <a:spcPts val="800"/>
              </a:spcAft>
              <a:buChar char="•"/>
            </a:pPr>
            <a:r>
              <a:rPr sz="1500" b="0">
                <a:solidFill>
                  <a:srgbClr val="212121"/>
                </a:solidFill>
                <a:latin typeface="Calibri"/>
              </a:rPr>
              <a:t>Target: the binned log-density ln ρ(s) of event sizes in one grid cell, 19 log bins with Poisson error bars</a:t>
            </a:r>
          </a:p>
          <a:p>
            <a:pPr marL="228600" indent="-228600">
              <a:spcAft>
                <a:spcPts val="800"/>
              </a:spcAft>
              <a:buChar char="•"/>
            </a:pPr>
            <a:r>
              <a:rPr sz="1500" b="0">
                <a:solidFill>
                  <a:srgbClr val="212121"/>
                </a:solidFill>
                <a:latin typeface="Calibri"/>
              </a:rPr>
              <a:t>Run on 12 cells spanning the state plane (700 to 7,600 events each), plus variants with unweighted bins and a wider size window</a:t>
            </a:r>
          </a:p>
          <a:p>
            <a:pPr marL="228600" indent="-228600">
              <a:spcAft>
                <a:spcPts val="800"/>
              </a:spcAft>
              <a:buChar char="•"/>
            </a:pPr>
            <a:r>
              <a:rPr sz="1500" b="0">
                <a:solidFill>
                  <a:srgbClr val="212121"/>
                </a:solidFill>
                <a:latin typeface="Calibri"/>
              </a:rPr>
              <a:t>Budget: 624,936 formula trees per cell at complexity 8, about 10,300 distinct admissible functions; one audit run at complexity 9 (4.5 million trees) found nothing new</a:t>
            </a:r>
          </a:p>
          <a:p>
            <a:pPr marL="228600" indent="-228600">
              <a:spcAft>
                <a:spcPts val="800"/>
              </a:spcAft>
              <a:buChar char="•"/>
            </a:pPr>
            <a:r>
              <a:rPr sz="1500" b="0">
                <a:solidFill>
                  <a:srgbClr val="212121"/>
                </a:solidFill>
                <a:latin typeface="Calibri"/>
              </a:rPr>
              <a:t>The search only proposes forms. Each candidate was then turned into a normalized density and judged by per-event maximum likelihood (AIC and trajectory-blocked cross-validation)</a:t>
            </a:r>
          </a:p>
        </p:txBody>
      </p:sp>
      <p:sp>
        <p:nvSpPr>
          <p:cNvPr id="5" name="Rounded Rectangle 4"/>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The search is exhaustive and the selection is by likelihood, so the discovered form is neither a lucky draw nor a binning artifact.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1E2761"/>
                </a:solidFill>
                <a:latin typeface="Calibri"/>
              </a:rPr>
              <a:t>The discovered law</a:t>
            </a:r>
          </a:p>
        </p:txBody>
      </p:sp>
      <p:sp>
        <p:nvSpPr>
          <p:cNvPr id="3" name="TextBox 2"/>
          <p:cNvSpPr txBox="1"/>
          <p:nvPr/>
        </p:nvSpPr>
        <p:spPr>
          <a:xfrm>
            <a:off x="640080" y="1143000"/>
            <a:ext cx="10972800" cy="640080"/>
          </a:xfrm>
          <a:prstGeom prst="rect">
            <a:avLst/>
          </a:prstGeom>
          <a:noFill/>
        </p:spPr>
        <p:txBody>
          <a:bodyPr wrap="square" lIns="0" rIns="0" tIns="0" bIns="0">
            <a:spAutoFit/>
          </a:bodyPr>
          <a:lstStyle/>
          <a:p>
            <a:pPr algn="ctr"/>
            <a:r>
              <a:rPr sz="2400" b="0">
                <a:solidFill>
                  <a:srgbClr val="1E2761"/>
                </a:solidFill>
                <a:latin typeface="Cambria Math"/>
              </a:rPr>
              <a:t>P(s | u, τ)  =  (1/Z) · (s_c(u, τ) − s)ᵐ / (s + ε)ᵏ ,     0 &lt; s &lt; s_c</a:t>
            </a:r>
          </a:p>
        </p:txBody>
      </p:sp>
      <p:sp>
        <p:nvSpPr>
          <p:cNvPr id="4" name="TextBox 3"/>
          <p:cNvSpPr txBox="1"/>
          <p:nvPr/>
        </p:nvSpPr>
        <p:spPr>
          <a:xfrm>
            <a:off x="640080" y="1783080"/>
            <a:ext cx="10972800" cy="640080"/>
          </a:xfrm>
          <a:prstGeom prst="rect">
            <a:avLst/>
          </a:prstGeom>
          <a:noFill/>
        </p:spPr>
        <p:txBody>
          <a:bodyPr wrap="square" lIns="0" rIns="0" tIns="0" bIns="0">
            <a:spAutoFit/>
          </a:bodyPr>
          <a:lstStyle/>
          <a:p>
            <a:pPr algn="ctr"/>
            <a:r>
              <a:rPr sz="1800" b="0">
                <a:solidFill>
                  <a:srgbClr val="6E7B85"/>
                </a:solidFill>
                <a:latin typeface="Cambria Math"/>
              </a:rPr>
              <a:t>k = 0.88,     m = 2.3,     ε = 2.8 × 10⁻⁵</a:t>
            </a:r>
          </a:p>
        </p:txBody>
      </p:sp>
      <p:sp>
        <p:nvSpPr>
          <p:cNvPr id="5" name="TextBox 4"/>
          <p:cNvSpPr txBox="1"/>
          <p:nvPr/>
        </p:nvSpPr>
        <p:spPr>
          <a:xfrm>
            <a:off x="640080" y="2514600"/>
            <a:ext cx="10972800" cy="4114800"/>
          </a:xfrm>
          <a:prstGeom prst="rect">
            <a:avLst/>
          </a:prstGeom>
          <a:noFill/>
        </p:spPr>
        <p:txBody>
          <a:bodyPr wrap="square" lIns="0" rIns="0" tIns="0" bIns="0">
            <a:spAutoFit/>
          </a:bodyPr>
          <a:lstStyle/>
          <a:p>
            <a:pPr>
              <a:spcAft>
                <a:spcPts val="1100"/>
              </a:spcAft>
            </a:pPr>
            <a:r>
              <a:rPr sz="1500" b="0">
                <a:solidFill>
                  <a:srgbClr val="1E2761"/>
                </a:solidFill>
                <a:latin typeface="Cambria Math"/>
              </a:rPr>
              <a:t>(s + ε)⁻ᵏ   </a:t>
            </a:r>
            <a:r>
              <a:rPr sz="1400" b="0">
                <a:solidFill>
                  <a:srgbClr val="212121"/>
                </a:solidFill>
                <a:latin typeface="Calibri"/>
              </a:rPr>
              <a:t>a power-law decay in size with exponent k ≈ 0.9: small events are far more common than large ones. The rounding scale ε flattens it below about 3 × 10⁻⁵, so the law describes every recorded event with no lower cutoff</a:t>
            </a:r>
          </a:p>
          <a:p>
            <a:pPr>
              <a:spcAft>
                <a:spcPts val="1100"/>
              </a:spcAft>
            </a:pPr>
            <a:r>
              <a:rPr sz="1500" b="0">
                <a:solidFill>
                  <a:srgbClr val="1E2761"/>
                </a:solidFill>
                <a:latin typeface="Cambria Math"/>
              </a:rPr>
              <a:t>(s_c − s)ᵐ   </a:t>
            </a:r>
            <a:r>
              <a:rPr sz="1400" b="0">
                <a:solidFill>
                  <a:srgbClr val="212121"/>
                </a:solidFill>
                <a:latin typeface="Calibri"/>
              </a:rPr>
              <a:t>a hard ceiling: the density goes to zero at s = s_c and no event larger than s_c is possible. With m ≈ 2 it vanishes gently, so the largest observed event sits a few percent below the ceiling</a:t>
            </a:r>
          </a:p>
          <a:p>
            <a:pPr>
              <a:spcAft>
                <a:spcPts val="1100"/>
              </a:spcAft>
            </a:pPr>
            <a:r>
              <a:rPr sz="1500" b="0">
                <a:solidFill>
                  <a:srgbClr val="1E2761"/>
                </a:solidFill>
                <a:latin typeface="Cambria Math"/>
              </a:rPr>
              <a:t>s_c(u, τ)   </a:t>
            </a:r>
            <a:r>
              <a:rPr sz="1400" b="0">
                <a:solidFill>
                  <a:srgbClr val="212121"/>
                </a:solidFill>
                <a:latin typeface="Calibri"/>
              </a:rPr>
              <a:t>the only place the state enters. It ranges 146× over the plane, from 0.02 in the cold, low-stress corner to 3 in the flowing state, and it factorizes, ln s_c ≈ (u-part) + (τ-part), at 95.5% of the variance</a:t>
            </a:r>
          </a:p>
          <a:p>
            <a:pPr>
              <a:spcAft>
                <a:spcPts val="1100"/>
              </a:spcAft>
            </a:pPr>
            <a:r>
              <a:rPr sz="1500" b="0">
                <a:solidFill>
                  <a:srgbClr val="1E2761"/>
                </a:solidFill>
                <a:latin typeface="Cambria Math"/>
              </a:rPr>
              <a:t>Z   </a:t>
            </a:r>
            <a:r>
              <a:rPr sz="1400" b="0">
                <a:solidFill>
                  <a:srgbClr val="212121"/>
                </a:solidFill>
                <a:latin typeface="Calibri"/>
              </a:rPr>
              <a:t>the normalization, computed numerically</a:t>
            </a:r>
          </a:p>
        </p:txBody>
      </p:sp>
      <p:sp>
        <p:nvSpPr>
          <p:cNvPr id="6" name="TextBox 5"/>
          <p:cNvSpPr txBox="1"/>
          <p:nvPr/>
        </p:nvSpPr>
        <p:spPr>
          <a:xfrm>
            <a:off x="640080" y="5074920"/>
            <a:ext cx="10972800" cy="822960"/>
          </a:xfrm>
          <a:prstGeom prst="rect">
            <a:avLst/>
          </a:prstGeom>
          <a:noFill/>
        </p:spPr>
        <p:txBody>
          <a:bodyPr wrap="square" lIns="0" rIns="0" tIns="0" bIns="0">
            <a:spAutoFit/>
          </a:bodyPr>
          <a:lstStyle/>
          <a:p>
            <a:pPr marL="228600" indent="-228600">
              <a:spcAft>
                <a:spcPts val="800"/>
              </a:spcAft>
              <a:buChar char="•"/>
            </a:pPr>
            <a:r>
              <a:rPr sz="1300" b="0">
                <a:solidFill>
                  <a:srgbClr val="212121"/>
                </a:solidFill>
                <a:latin typeface="Calibri"/>
              </a:rPr>
              <a:t>Compared with the usual truncated power law s⁻ᵏ e^(−s/s*): that form suppresses large events with an exponential tail but never forbids them. The search never placed it on a Pareto front, and the ceiling form beat it in every likelihood contest that follows</a:t>
            </a:r>
          </a:p>
        </p:txBody>
      </p:sp>
      <p:sp>
        <p:nvSpPr>
          <p:cNvPr id="7" name="Rounded Rectangle 6"/>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Three global constants and one state-dependent number. Everything about the state, and (later) about the preparation history, enters through the ceiling s_c.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1E2761"/>
                </a:solidFill>
                <a:latin typeface="Calibri"/>
              </a:rPr>
              <a:t>How the law performs: one cell, three candidate laws</a:t>
            </a:r>
          </a:p>
        </p:txBody>
      </p:sp>
      <p:pic>
        <p:nvPicPr>
          <p:cNvPr id="3" name="Picture 2" descr="fig01_size_law.png"/>
          <p:cNvPicPr>
            <a:picLocks noChangeAspect="1"/>
          </p:cNvPicPr>
          <p:nvPr/>
        </p:nvPicPr>
        <p:blipFill>
          <a:blip r:embed="rId2"/>
          <a:stretch>
            <a:fillRect/>
          </a:stretch>
        </p:blipFill>
        <p:spPr>
          <a:xfrm>
            <a:off x="524021" y="1234440"/>
            <a:ext cx="6267156" cy="4526280"/>
          </a:xfrm>
          <a:prstGeom prst="rect">
            <a:avLst/>
          </a:prstGeom>
        </p:spPr>
      </p:pic>
      <p:sp>
        <p:nvSpPr>
          <p:cNvPr id="4" name="TextBox 3"/>
          <p:cNvSpPr txBox="1"/>
          <p:nvPr/>
        </p:nvSpPr>
        <p:spPr>
          <a:xfrm>
            <a:off x="7132320" y="1371600"/>
            <a:ext cx="5056631" cy="4343400"/>
          </a:xfrm>
          <a:prstGeom prst="rect">
            <a:avLst/>
          </a:prstGeom>
          <a:noFill/>
        </p:spPr>
        <p:txBody>
          <a:bodyPr wrap="square" lIns="0" rIns="0" tIns="0" bIns="0">
            <a:spAutoFit/>
          </a:bodyPr>
          <a:lstStyle/>
          <a:p>
            <a:pPr marL="228600" indent="-228600">
              <a:spcAft>
                <a:spcPts val="800"/>
              </a:spcAft>
              <a:buChar char="•"/>
            </a:pPr>
            <a:r>
              <a:rPr sz="1300" b="0">
                <a:solidFill>
                  <a:srgbClr val="212121"/>
                </a:solidFill>
                <a:latin typeface="Calibri"/>
              </a:rPr>
              <a:t>One well-populated cell (6,706 events), five decades of event size. The inset marks the cell on the state plane</a:t>
            </a:r>
          </a:p>
          <a:p>
            <a:pPr marL="228600" indent="-228600">
              <a:spcAft>
                <a:spcPts val="800"/>
              </a:spcAft>
              <a:buChar char="•"/>
            </a:pPr>
            <a:r>
              <a:rPr sz="1300" b="0">
                <a:solidFill>
                  <a:srgbClr val="212121"/>
                </a:solidFill>
                <a:latin typeface="Calibri"/>
              </a:rPr>
              <a:t>Black: the measured density. Red: the ceiling law. Blue dashed: the best truncated power law (TPL). Green dotted: the best lognormal</a:t>
            </a:r>
          </a:p>
          <a:p>
            <a:pPr marL="228600" indent="-228600">
              <a:spcAft>
                <a:spcPts val="800"/>
              </a:spcAft>
              <a:buChar char="•"/>
            </a:pPr>
            <a:r>
              <a:rPr sz="1300" b="0">
                <a:solidFill>
                  <a:srgbClr val="212121"/>
                </a:solidFill>
                <a:latin typeface="Calibri"/>
              </a:rPr>
              <a:t>All three are maximum-likelihood fits of proper densities on the same events</a:t>
            </a:r>
          </a:p>
          <a:p>
            <a:pPr marL="228600" indent="-228600">
              <a:spcAft>
                <a:spcPts val="800"/>
              </a:spcAft>
              <a:buChar char="•"/>
            </a:pPr>
            <a:r>
              <a:rPr sz="1300" b="0">
                <a:solidFill>
                  <a:srgbClr val="212121"/>
                </a:solidFill>
                <a:latin typeface="Calibri"/>
              </a:rPr>
              <a:t>Only the ceiling law gets both ends: the flattening below 3 × 10⁻⁵ and the abrupt stop at the dotted line (s_c). The TPL tail decays too softly and overshoots</a:t>
            </a:r>
          </a:p>
          <a:p>
            <a:pPr marL="228600" indent="-228600">
              <a:spcAft>
                <a:spcPts val="800"/>
              </a:spcAft>
              <a:buChar char="•"/>
            </a:pPr>
            <a:r>
              <a:rPr sz="1300" b="0">
                <a:solidFill>
                  <a:srgbClr val="212121"/>
                </a:solidFill>
                <a:latin typeface="Calibri"/>
              </a:rPr>
              <a:t>Over the full range the ceiling law beats the TPL by ΔAIC 200 to 345 in this kind of cell</a:t>
            </a:r>
          </a:p>
        </p:txBody>
      </p:sp>
      <p:sp>
        <p:nvSpPr>
          <p:cNvPr id="5" name="Rounded Rectangle 4"/>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At the level of individual events, the data terminate where the ceiling law says they should and where the TPL says they should 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1E2761"/>
                </a:solidFill>
                <a:latin typeface="Calibri"/>
              </a:rPr>
              <a:t>How the law performs: every cell, and the falsifiability control</a:t>
            </a:r>
          </a:p>
        </p:txBody>
      </p:sp>
      <p:pic>
        <p:nvPicPr>
          <p:cNvPr id="3" name="Picture 2" descr="fig02_collapse.png"/>
          <p:cNvPicPr>
            <a:picLocks noChangeAspect="1"/>
          </p:cNvPicPr>
          <p:nvPr/>
        </p:nvPicPr>
        <p:blipFill>
          <a:blip r:embed="rId2"/>
          <a:stretch>
            <a:fillRect/>
          </a:stretch>
        </p:blipFill>
        <p:spPr>
          <a:xfrm>
            <a:off x="650630" y="1188720"/>
            <a:ext cx="5190978" cy="3749039"/>
          </a:xfrm>
          <a:prstGeom prst="rect">
            <a:avLst/>
          </a:prstGeom>
        </p:spPr>
      </p:pic>
      <p:pic>
        <p:nvPicPr>
          <p:cNvPr id="4" name="Picture 3" descr="fig04_falsifiability.png"/>
          <p:cNvPicPr>
            <a:picLocks noChangeAspect="1"/>
          </p:cNvPicPr>
          <p:nvPr/>
        </p:nvPicPr>
        <p:blipFill>
          <a:blip r:embed="rId3"/>
          <a:stretch>
            <a:fillRect/>
          </a:stretch>
        </p:blipFill>
        <p:spPr>
          <a:xfrm>
            <a:off x="6347342" y="1188720"/>
            <a:ext cx="5190978" cy="3749039"/>
          </a:xfrm>
          <a:prstGeom prst="rect">
            <a:avLst/>
          </a:prstGeom>
        </p:spPr>
      </p:pic>
      <p:sp>
        <p:nvSpPr>
          <p:cNvPr id="5" name="TextBox 4"/>
          <p:cNvSpPr txBox="1"/>
          <p:nvPr/>
        </p:nvSpPr>
        <p:spPr>
          <a:xfrm>
            <a:off x="640080" y="5029200"/>
            <a:ext cx="10972800" cy="914400"/>
          </a:xfrm>
          <a:prstGeom prst="rect">
            <a:avLst/>
          </a:prstGeom>
          <a:noFill/>
        </p:spPr>
        <p:txBody>
          <a:bodyPr wrap="square" lIns="0" rIns="0" tIns="0" bIns="0">
            <a:spAutoFit/>
          </a:bodyPr>
          <a:lstStyle/>
          <a:p>
            <a:pPr marL="228600" indent="-228600">
              <a:spcAft>
                <a:spcPts val="800"/>
              </a:spcAft>
              <a:buChar char="•"/>
            </a:pPr>
            <a:r>
              <a:rPr sz="1250" b="0">
                <a:solidFill>
                  <a:srgbClr val="212121"/>
                </a:solidFill>
                <a:latin typeface="Calibri"/>
              </a:rPr>
              <a:t>Left: twelve cells whose raw distributions differ by 100× in scale, replotted against ξ = (s+ε)/(s_c+ε) with the global (k, m, ε). They fall on one curve, including the bend into the ceiling</a:t>
            </a:r>
          </a:p>
          <a:p>
            <a:pPr marL="228600" indent="-228600">
              <a:spcAft>
                <a:spcPts val="800"/>
              </a:spcAft>
              <a:buChar char="•"/>
            </a:pPr>
            <a:r>
              <a:rPr sz="1250" b="0">
                <a:solidFill>
                  <a:srgbClr val="212121"/>
                </a:solidFill>
                <a:latin typeface="Calibri"/>
              </a:rPr>
              <a:t>Right: the same fitting machinery on synthetic catalogs. TPL-generated data return a TPL verdict (5 of 5); ceiling-generated data return the ceiling (5 of 5). The twelve measured cells sit on the ceiling side, one sparse cell a tie. In the eight largest cells the ceiling law wins AIC 8 of 8 (ΔAIC 67 to 120 over the TPL, 300 to 754 over the lognormal)</a:t>
            </a:r>
          </a:p>
        </p:txBody>
      </p:sp>
      <p:sp>
        <p:nvSpPr>
          <p:cNvPr id="6" name="Rounded Rectangle 5"/>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One shape everywhere, a discriminator that works in both directions, and the data on one side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1E2761"/>
                </a:solidFill>
                <a:latin typeface="Calibri"/>
              </a:rPr>
              <a:t>How the law performs: the plastic-rate field, rebuilt from it</a:t>
            </a:r>
          </a:p>
        </p:txBody>
      </p:sp>
      <p:pic>
        <p:nvPicPr>
          <p:cNvPr id="3" name="Picture 2" descr="fig09_q_agreement.png"/>
          <p:cNvPicPr>
            <a:picLocks noChangeAspect="1"/>
          </p:cNvPicPr>
          <p:nvPr/>
        </p:nvPicPr>
        <p:blipFill>
          <a:blip r:embed="rId2"/>
          <a:stretch>
            <a:fillRect/>
          </a:stretch>
        </p:blipFill>
        <p:spPr>
          <a:xfrm>
            <a:off x="891539" y="1234440"/>
            <a:ext cx="5532120" cy="4526280"/>
          </a:xfrm>
          <a:prstGeom prst="rect">
            <a:avLst/>
          </a:prstGeom>
        </p:spPr>
      </p:pic>
      <p:sp>
        <p:nvSpPr>
          <p:cNvPr id="4" name="TextBox 3"/>
          <p:cNvSpPr txBox="1"/>
          <p:nvPr/>
        </p:nvSpPr>
        <p:spPr>
          <a:xfrm>
            <a:off x="7132320" y="1371600"/>
            <a:ext cx="5056631" cy="4343400"/>
          </a:xfrm>
          <a:prstGeom prst="rect">
            <a:avLst/>
          </a:prstGeom>
          <a:noFill/>
        </p:spPr>
        <p:txBody>
          <a:bodyPr wrap="square" lIns="0" rIns="0" tIns="0" bIns="0">
            <a:spAutoFit/>
          </a:bodyPr>
          <a:lstStyle/>
          <a:p>
            <a:pPr marL="228600" indent="-228600">
              <a:spcAft>
                <a:spcPts val="800"/>
              </a:spcAft>
              <a:buChar char="•"/>
            </a:pPr>
            <a:r>
              <a:rPr sz="1300" b="0">
                <a:solidFill>
                  <a:srgbClr val="212121"/>
                </a:solidFill>
                <a:latin typeface="Calibri"/>
              </a:rPr>
              <a:t>q(u, τ) was measured directly in the first pass, cell by cell, as 1 − (dτ/dγ)/2μ</a:t>
            </a:r>
          </a:p>
          <a:p>
            <a:pPr marL="228600" indent="-228600">
              <a:spcAft>
                <a:spcPts val="800"/>
              </a:spcAft>
              <a:buChar char="•"/>
            </a:pPr>
            <a:r>
              <a:rPr sz="1300" b="0">
                <a:solidFill>
                  <a:srgbClr val="212121"/>
                </a:solidFill>
                <a:latin typeface="Calibri"/>
              </a:rPr>
              <a:t>From the law it is hazard × mean event size, with the mean taken from the fitted P(s | u, τ)</a:t>
            </a:r>
          </a:p>
          <a:p>
            <a:pPr marL="228600" indent="-228600">
              <a:spcAft>
                <a:spcPts val="800"/>
              </a:spcAft>
              <a:buChar char="•"/>
            </a:pPr>
            <a:r>
              <a:rPr sz="1300" b="0">
                <a:solidFill>
                  <a:srgbClr val="212121"/>
                </a:solidFill>
                <a:latin typeface="Calibri"/>
              </a:rPr>
              <a:t>Each dot is one cell over two decades of q. The band is the statistical noise floor of this grid, 17.5% from split-half ensembles</a:t>
            </a:r>
          </a:p>
          <a:p>
            <a:pPr marL="228600" indent="-228600">
              <a:spcAft>
                <a:spcPts val="800"/>
              </a:spcAft>
              <a:buChar char="•"/>
            </a:pPr>
            <a:r>
              <a:rPr sz="1300" b="0">
                <a:solidFill>
                  <a:srgbClr val="212121"/>
                </a:solidFill>
                <a:latin typeface="Calibri"/>
              </a:rPr>
              <a:t>The rebuilt field lands at median +1.8% and RMS 17%: within the noise. A better law could not score better on this test</a:t>
            </a:r>
          </a:p>
          <a:p>
            <a:pPr marL="228600" indent="-228600">
              <a:spcAft>
                <a:spcPts val="800"/>
              </a:spcAft>
              <a:buChar char="•"/>
            </a:pPr>
            <a:r>
              <a:rPr sz="1300" b="0">
                <a:solidFill>
                  <a:srgbClr val="212121"/>
                </a:solidFill>
                <a:latin typeface="Calibri"/>
              </a:rPr>
              <a:t>Its factor structure is the measured one too: both versions factorize at 96%, with the same SR knee and nearly the same constants</a:t>
            </a:r>
          </a:p>
        </p:txBody>
      </p:sp>
      <p:sp>
        <p:nvSpPr>
          <p:cNvPr id="5" name="Rounded Rectangle 4"/>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The fitted law reproduces the central object of the first pass to within the data’s own noise.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1E2761"/>
                </a:solidFill>
                <a:latin typeface="Calibri"/>
              </a:rPr>
              <a:t>Running the model with the discovered law</a:t>
            </a:r>
          </a:p>
        </p:txBody>
      </p:sp>
      <p:pic>
        <p:nvPicPr>
          <p:cNvPr id="3" name="Picture 2" descr="fig12_sim_stress.png"/>
          <p:cNvPicPr>
            <a:picLocks noChangeAspect="1"/>
          </p:cNvPicPr>
          <p:nvPr/>
        </p:nvPicPr>
        <p:blipFill>
          <a:blip r:embed="rId2"/>
          <a:stretch>
            <a:fillRect/>
          </a:stretch>
        </p:blipFill>
        <p:spPr>
          <a:xfrm>
            <a:off x="578533" y="1188720"/>
            <a:ext cx="5335172" cy="3749039"/>
          </a:xfrm>
          <a:prstGeom prst="rect">
            <a:avLst/>
          </a:prstGeom>
        </p:spPr>
      </p:pic>
      <p:pic>
        <p:nvPicPr>
          <p:cNvPr id="4" name="Picture 3" descr="fig14_sim_peaks.png"/>
          <p:cNvPicPr>
            <a:picLocks noChangeAspect="1"/>
          </p:cNvPicPr>
          <p:nvPr/>
        </p:nvPicPr>
        <p:blipFill>
          <a:blip r:embed="rId3"/>
          <a:stretch>
            <a:fillRect/>
          </a:stretch>
        </p:blipFill>
        <p:spPr>
          <a:xfrm>
            <a:off x="6275245" y="1188720"/>
            <a:ext cx="5335172" cy="3749039"/>
          </a:xfrm>
          <a:prstGeom prst="rect">
            <a:avLst/>
          </a:prstGeom>
        </p:spPr>
      </p:pic>
      <p:sp>
        <p:nvSpPr>
          <p:cNvPr id="5" name="TextBox 4"/>
          <p:cNvSpPr txBox="1"/>
          <p:nvPr/>
        </p:nvSpPr>
        <p:spPr>
          <a:xfrm>
            <a:off x="640080" y="5029200"/>
            <a:ext cx="10972800" cy="914400"/>
          </a:xfrm>
          <a:prstGeom prst="rect">
            <a:avLst/>
          </a:prstGeom>
          <a:noFill/>
        </p:spPr>
        <p:txBody>
          <a:bodyPr wrap="square" lIns="0" rIns="0" tIns="0" bIns="0">
            <a:spAutoFit/>
          </a:bodyPr>
          <a:lstStyle/>
          <a:p>
            <a:pPr marL="228600" indent="-228600">
              <a:spcAft>
                <a:spcPts val="800"/>
              </a:spcAft>
              <a:buChar char="•"/>
            </a:pPr>
            <a:r>
              <a:rPr sz="1250" b="0">
                <a:solidFill>
                  <a:srgbClr val="212121"/>
                </a:solidFill>
                <a:latin typeface="Calibri"/>
              </a:rPr>
              <a:t>All 850 runs simulated forward from their measured initial states at Δγ = 10⁻⁵: elastic drift at 2μ, an event with probability p(u, τ), and the event size drawn from the law at that state</a:t>
            </a:r>
          </a:p>
          <a:p>
            <a:pPr marL="228600" indent="-228600">
              <a:spcAft>
                <a:spcPts val="800"/>
              </a:spcAft>
              <a:buChar char="•"/>
            </a:pPr>
            <a:r>
              <a:rPr sz="1250" b="0">
                <a:solidFill>
                  <a:srgbClr val="212121"/>
                </a:solidFill>
                <a:latin typeface="Calibri"/>
              </a:rPr>
              <a:t>Left: stress-strain curves for the nine preparations, MD solid and model dashed. The elastic rise, the yield overshoot across 256× in cooling rate, the post-yield decay, and the flow stress (±5%) all come out. Right: the yield peaks, RMS 2.5% (worst rate 4.3%); the TPL arm gives 1.4% and resampling the raw events 0.9%, so peaks do not discriminate size laws</a:t>
            </a:r>
          </a:p>
        </p:txBody>
      </p:sp>
      <p:sp>
        <p:nvSpPr>
          <p:cNvPr id="6" name="Rounded Rectangle 5"/>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Fields measured at the single-step level predict the yield strength of a glass from its preparation to a few percent.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990011"/>
                </a:solidFill>
                <a:latin typeface="Calibri"/>
              </a:rPr>
              <a:t>The energy-convergence problem</a:t>
            </a:r>
          </a:p>
        </p:txBody>
      </p:sp>
      <p:pic>
        <p:nvPicPr>
          <p:cNvPr id="3" name="Picture 2" descr="fig13_sim_energy.png"/>
          <p:cNvPicPr>
            <a:picLocks noChangeAspect="1"/>
          </p:cNvPicPr>
          <p:nvPr/>
        </p:nvPicPr>
        <p:blipFill>
          <a:blip r:embed="rId2"/>
          <a:stretch>
            <a:fillRect/>
          </a:stretch>
        </p:blipFill>
        <p:spPr>
          <a:xfrm>
            <a:off x="502920" y="1280777"/>
            <a:ext cx="6309360" cy="4433604"/>
          </a:xfrm>
          <a:prstGeom prst="rect">
            <a:avLst/>
          </a:prstGeom>
        </p:spPr>
      </p:pic>
      <p:sp>
        <p:nvSpPr>
          <p:cNvPr id="4" name="TextBox 3"/>
          <p:cNvSpPr txBox="1"/>
          <p:nvPr/>
        </p:nvSpPr>
        <p:spPr>
          <a:xfrm>
            <a:off x="7132320" y="1371600"/>
            <a:ext cx="5056631" cy="4343400"/>
          </a:xfrm>
          <a:prstGeom prst="rect">
            <a:avLst/>
          </a:prstGeom>
          <a:noFill/>
        </p:spPr>
        <p:txBody>
          <a:bodyPr wrap="square" lIns="0" rIns="0" tIns="0" bIns="0">
            <a:spAutoFit/>
          </a:bodyPr>
          <a:lstStyle/>
          <a:p>
            <a:pPr marL="228600" indent="-228600">
              <a:spcAft>
                <a:spcPts val="800"/>
              </a:spcAft>
              <a:buChar char="•"/>
            </a:pPr>
            <a:r>
              <a:rPr sz="1300" b="0">
                <a:solidFill>
                  <a:srgbClr val="212121"/>
                </a:solidFill>
                <a:latin typeface="Calibri"/>
              </a:rPr>
              <a:t>The same comparison for the energy coordinate u(γ)</a:t>
            </a:r>
          </a:p>
          <a:p>
            <a:pPr marL="228600" indent="-228600">
              <a:spcAft>
                <a:spcPts val="800"/>
              </a:spcAft>
              <a:buChar char="•"/>
            </a:pPr>
            <a:r>
              <a:rPr sz="1300" b="0">
                <a:solidFill>
                  <a:srgbClr val="212121"/>
                </a:solidFill>
                <a:latin typeface="Calibri"/>
              </a:rPr>
              <a:t>Early on the model is right. Late, the dashed curves pinch together: the preparations keep a 24% spread in mean u at γ = 0.5 in the data, and 4% in the model</a:t>
            </a:r>
          </a:p>
          <a:p>
            <a:pPr marL="228600" indent="-228600">
              <a:spcAft>
                <a:spcPts val="800"/>
              </a:spcAft>
              <a:buChar char="•"/>
            </a:pPr>
            <a:r>
              <a:rPr sz="1300" b="0">
                <a:solidFill>
                  <a:srgbClr val="212121"/>
                </a:solidFill>
                <a:latin typeface="Calibri"/>
              </a:rPr>
              <a:t>The model’s fields are one map for all histories, so two runs at the same (u, τ) evolve identically no matter how they got there. The data say they do not: at the same (u, τ), slow-cooled glass has a 1.71× higher ceiling than fast-cooled glass</a:t>
            </a:r>
          </a:p>
          <a:p>
            <a:pPr marL="228600" indent="-228600">
              <a:spcAft>
                <a:spcPts val="800"/>
              </a:spcAft>
              <a:buChar char="•"/>
            </a:pPr>
            <a:r>
              <a:rPr sz="1300" b="0">
                <a:solidFill>
                  <a:srgbClr val="212121"/>
                </a:solidFill>
                <a:latin typeface="Calibri"/>
              </a:rPr>
              <a:t>So (u, τ) is not a sufficient state. The question is which channel of the step process carries the missing information</a:t>
            </a:r>
          </a:p>
        </p:txBody>
      </p:sp>
      <p:sp>
        <p:nvSpPr>
          <p:cNvPr id="5" name="Rounded Rectangle 4"/>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A five-times-too-small preparation spread in u: the one place the two-variable model fails.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685800"/>
          </a:xfrm>
          <a:prstGeom prst="rect">
            <a:avLst/>
          </a:prstGeom>
          <a:noFill/>
        </p:spPr>
        <p:txBody>
          <a:bodyPr wrap="square" lIns="0" rIns="0" tIns="0" bIns="0">
            <a:spAutoFit/>
          </a:bodyPr>
          <a:lstStyle/>
          <a:p>
            <a:r>
              <a:rPr sz="3000" b="1">
                <a:solidFill>
                  <a:srgbClr val="1E2761"/>
                </a:solidFill>
                <a:latin typeface="Calibri"/>
              </a:rPr>
              <a:t>The fix: a one-parameter preparation memory in the ceiling</a:t>
            </a:r>
          </a:p>
        </p:txBody>
      </p:sp>
      <p:sp>
        <p:nvSpPr>
          <p:cNvPr id="3" name="TextBox 2"/>
          <p:cNvSpPr txBox="1"/>
          <p:nvPr/>
        </p:nvSpPr>
        <p:spPr>
          <a:xfrm>
            <a:off x="640080" y="1097280"/>
            <a:ext cx="10972800" cy="640080"/>
          </a:xfrm>
          <a:prstGeom prst="rect">
            <a:avLst/>
          </a:prstGeom>
          <a:noFill/>
        </p:spPr>
        <p:txBody>
          <a:bodyPr wrap="square" lIns="0" rIns="0" tIns="0" bIns="0">
            <a:spAutoFit/>
          </a:bodyPr>
          <a:lstStyle/>
          <a:p>
            <a:pPr algn="ctr"/>
            <a:r>
              <a:rPr sz="2200" b="0">
                <a:solidFill>
                  <a:srgbClr val="1E2761"/>
                </a:solidFill>
                <a:latin typeface="Cambria Math"/>
              </a:rPr>
              <a:t>s_c(u, τ; rate)  =  s_c(u, τ) · (rate / rate_mid)^β ,        β = −0.117 ± 0.005</a:t>
            </a:r>
          </a:p>
        </p:txBody>
      </p:sp>
      <p:pic>
        <p:nvPicPr>
          <p:cNvPr id="4" name="Picture 3" descr="fig17_memory_repair.png"/>
          <p:cNvPicPr>
            <a:picLocks noChangeAspect="1"/>
          </p:cNvPicPr>
          <p:nvPr/>
        </p:nvPicPr>
        <p:blipFill>
          <a:blip r:embed="rId2"/>
          <a:stretch>
            <a:fillRect/>
          </a:stretch>
        </p:blipFill>
        <p:spPr>
          <a:xfrm>
            <a:off x="502920" y="1797527"/>
            <a:ext cx="6949440" cy="2668584"/>
          </a:xfrm>
          <a:prstGeom prst="rect">
            <a:avLst/>
          </a:prstGeom>
        </p:spPr>
      </p:pic>
      <p:sp>
        <p:nvSpPr>
          <p:cNvPr id="5" name="TextBox 4"/>
          <p:cNvSpPr txBox="1"/>
          <p:nvPr/>
        </p:nvSpPr>
        <p:spPr>
          <a:xfrm>
            <a:off x="7635240" y="1783080"/>
            <a:ext cx="4069080" cy="2743200"/>
          </a:xfrm>
          <a:prstGeom prst="rect">
            <a:avLst/>
          </a:prstGeom>
          <a:noFill/>
        </p:spPr>
        <p:txBody>
          <a:bodyPr wrap="square" lIns="0" rIns="0" tIns="0" bIns="0">
            <a:spAutoFit/>
          </a:bodyPr>
          <a:lstStyle/>
          <a:p>
            <a:pPr marL="228600" indent="-228600">
              <a:spcAft>
                <a:spcPts val="800"/>
              </a:spcAft>
              <a:buChar char="•"/>
            </a:pPr>
            <a:r>
              <a:rPr sz="1150" b="0">
                <a:solidFill>
                  <a:srgbClr val="212121"/>
                </a:solidFill>
                <a:latin typeface="Calibri"/>
              </a:rPr>
              <a:t>Only the ceiling is scaled per preparation; hazard, drift, aging and the energy coupling stay as measured</a:t>
            </a:r>
          </a:p>
          <a:p>
            <a:pPr marL="228600" indent="-228600">
              <a:spcAft>
                <a:spcPts val="800"/>
              </a:spcAft>
              <a:buChar char="•"/>
            </a:pPr>
            <a:r>
              <a:rPr sz="1150" b="0">
                <a:solidFill>
                  <a:srgbClr val="212121"/>
                </a:solidFill>
                <a:latin typeface="Calibri"/>
              </a:rPr>
              <a:t>β is the memory exponent: the slope of ln(mean event size) on ln(cooling rate) at fixed cell, with cell fixed effects. rate_mid is the middle of the nine rates, so the factors run from 1.38 (slowest) to 0.72 (fastest)</a:t>
            </a:r>
          </a:p>
          <a:p>
            <a:pPr marL="228600" indent="-228600">
              <a:spcAft>
                <a:spcPts val="800"/>
              </a:spcAft>
              <a:buChar char="•"/>
            </a:pPr>
            <a:r>
              <a:rPr sz="1150" b="0">
                <a:solidFill>
                  <a:srgbClr val="212121"/>
                </a:solidFill>
                <a:latin typeface="Calibri"/>
              </a:rPr>
              <a:t>Why the ceiling: measured the same way, the hazard has β = −0.012 ± 0.002 and the elastic drift does not move; the memory is in the event size, and in its tail</a:t>
            </a:r>
          </a:p>
        </p:txBody>
      </p:sp>
      <p:sp>
        <p:nvSpPr>
          <p:cNvPr id="6" name="TextBox 5"/>
          <p:cNvSpPr txBox="1"/>
          <p:nvPr/>
        </p:nvSpPr>
        <p:spPr>
          <a:xfrm>
            <a:off x="640080" y="4617720"/>
            <a:ext cx="10972800" cy="1280160"/>
          </a:xfrm>
          <a:prstGeom prst="rect">
            <a:avLst/>
          </a:prstGeom>
          <a:noFill/>
        </p:spPr>
        <p:txBody>
          <a:bodyPr wrap="square" lIns="0" rIns="0" tIns="0" bIns="0">
            <a:spAutoFit/>
          </a:bodyPr>
          <a:lstStyle/>
          <a:p>
            <a:pPr marL="228600" indent="-228600">
              <a:spcAft>
                <a:spcPts val="800"/>
              </a:spcAft>
              <a:buChar char="•"/>
            </a:pPr>
            <a:r>
              <a:rPr sz="1200" b="0">
                <a:solidFill>
                  <a:srgbClr val="212121"/>
                </a:solidFill>
                <a:latin typeface="Calibri"/>
              </a:rPr>
              <a:t>Result (right panel): the spread of mean u at γ = 0.5 goes from 4.1% to 26.5% against 24% in the data, and the model tracks the data over the whole strain window; yield peaks are unchanged (RMS 2.5% → 2.8%)</a:t>
            </a:r>
          </a:p>
          <a:p>
            <a:pPr marL="228600" indent="-228600">
              <a:spcAft>
                <a:spcPts val="800"/>
              </a:spcAft>
              <a:buChar char="•"/>
            </a:pPr>
            <a:r>
              <a:rPr sz="1200" b="0">
                <a:solidFill>
                  <a:srgbClr val="212121"/>
                </a:solidFill>
                <a:latin typeface="Calibri"/>
              </a:rPr>
              <a:t>The same relation applied within a preparation, a per-run factor exp(κ·δu₀) with κ = β · d ln(rate)/du₀ = −43 and no new parameter, predicts how long a run remembers its initial energy (0.44 / 0.27 / 0.22 / 0.17 at γ = 0.1 / 0.2 / 0.3 / 0.5, against 0.63 / 0.27 / 0.24 / 0.18 in the data). The memory also relaxes with strain, with γ_r ≈ 0.2</a:t>
            </a:r>
          </a:p>
        </p:txBody>
      </p:sp>
      <p:sp>
        <p:nvSpPr>
          <p:cNvPr id="7" name="Rounded Rectangle 6"/>
          <p:cNvSpPr/>
          <p:nvPr/>
        </p:nvSpPr>
        <p:spPr>
          <a:xfrm>
            <a:off x="548640" y="6053328"/>
            <a:ext cx="11091672" cy="566928"/>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0" bIns="0"/>
          <a:lstStyle/>
          <a:p>
            <a:pPr algn="ctr"/>
            <a:r>
              <a:rPr sz="1350" b="1">
                <a:solidFill>
                  <a:srgbClr val="1E2761"/>
                </a:solidFill>
                <a:latin typeface="Calibri"/>
              </a:rPr>
              <a:t>Takeaway: </a:t>
            </a:r>
            <a:r>
              <a:rPr sz="1350" b="0">
                <a:solidFill>
                  <a:srgbClr val="212121"/>
                </a:solidFill>
                <a:latin typeface="Calibri"/>
              </a:rPr>
              <a:t>To the resolution of this dataset, the missing state variable is a single multiplicative factor on the ceiling, set by the preparation and erased by plastic strain.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