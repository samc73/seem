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9"/>
    <p:sldId id="260" r:id="rId10"/>
    <p:sldId id="261" r:id="rId11"/>
    <p:sldId id="262" r:id="rId8"/>
    <p:sldId id="263" r:id="rId7"/>
    <p:sldId id="264" r:id="rId6"/>
    <p:sldId id="265" r:id="rId5"/>
    <p:sldId id="266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87"/>
  </p:normalViewPr>
  <p:slideViewPr>
    <p:cSldViewPr snapToGrid="0" snapToObjects="1">
      <p:cViewPr varScale="1">
        <p:scale>
          <a:sx n="112" d="100"/>
          <a:sy n="112" d="100"/>
        </p:scale>
        <p:origin x="768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8.xml"/><Relationship Id="rId8" Type="http://schemas.openxmlformats.org/officeDocument/2006/relationships/slide" Target="slides/slide7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737360"/>
            <a:ext cx="10515600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4000" b="1" dirty="0">
                <a:solidFill>
                  <a:srgbClr val="1E2761"/>
                </a:solidFill>
                <a:latin typeface="Calibri"/>
              </a:rPr>
              <a:t>SEEM</a:t>
            </a:r>
            <a:endParaRPr sz="4000" b="1" dirty="0">
              <a:solidFill>
                <a:srgbClr val="1E2761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1051560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1500" b="0" dirty="0">
                <a:solidFill>
                  <a:srgbClr val="6E7B85"/>
                </a:solidFill>
                <a:latin typeface="Calibri"/>
              </a:rPr>
              <a:t>SEEM/LYS Meeting - </a:t>
            </a:r>
            <a:r>
              <a:rPr sz="1500" b="0" dirty="0">
                <a:solidFill>
                  <a:srgbClr val="6E7B85"/>
                </a:solidFill>
                <a:latin typeface="Calibri"/>
              </a:rPr>
              <a:t>September 4,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1091672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3000" b="1" dirty="0">
                <a:solidFill>
                  <a:srgbClr val="1E2761"/>
                </a:solidFill>
                <a:latin typeface="Calibri"/>
              </a:rPr>
              <a:t>Variables</a:t>
            </a:r>
            <a:endParaRPr sz="3000" b="1" dirty="0">
              <a:solidFill>
                <a:srgbClr val="1E2761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5394960" cy="21826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600" b="0" dirty="0" err="1">
                <a:solidFill>
                  <a:srgbClr val="1E2761"/>
                </a:solidFill>
                <a:latin typeface="Cambria Math"/>
              </a:rPr>
              <a:t>γ</a:t>
            </a:r>
            <a:r>
              <a:rPr sz="1600" b="0" dirty="0">
                <a:solidFill>
                  <a:srgbClr val="1E2761"/>
                </a:solidFill>
                <a:latin typeface="Cambria Math"/>
              </a:rPr>
              <a:t>  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applied shear strain; one step is 10⁻⁵, runs go to 0.5</a:t>
            </a:r>
          </a:p>
          <a:p>
            <a:pPr>
              <a:spcAft>
                <a:spcPts val="1100"/>
              </a:spcAft>
            </a:pPr>
            <a:r>
              <a:rPr sz="1600" b="0" dirty="0" err="1">
                <a:solidFill>
                  <a:srgbClr val="1E2761"/>
                </a:solidFill>
                <a:latin typeface="Cambria Math"/>
              </a:rPr>
              <a:t>τ</a:t>
            </a:r>
            <a:r>
              <a:rPr sz="1600" b="0" dirty="0">
                <a:solidFill>
                  <a:srgbClr val="1E2761"/>
                </a:solidFill>
                <a:latin typeface="Cambria Math"/>
              </a:rPr>
              <a:t>  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shear stress (raw stress ÷ 10⁴)</a:t>
            </a:r>
          </a:p>
          <a:p>
            <a:pPr>
              <a:spcAft>
                <a:spcPts val="1100"/>
              </a:spcAft>
            </a:pPr>
            <a:r>
              <a:rPr sz="1600" b="0" dirty="0">
                <a:solidFill>
                  <a:srgbClr val="1E2761"/>
                </a:solidFill>
                <a:latin typeface="Cambria Math"/>
              </a:rPr>
              <a:t>u = pe − u₀   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PE/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atom above the reference u₀ = −4.60752</a:t>
            </a:r>
          </a:p>
          <a:p>
            <a:pPr>
              <a:spcAft>
                <a:spcPts val="1100"/>
              </a:spcAft>
            </a:pPr>
            <a:r>
              <a:rPr sz="1600" b="0" dirty="0">
                <a:solidFill>
                  <a:srgbClr val="1E2761"/>
                </a:solidFill>
                <a:latin typeface="Cambria Math"/>
              </a:rPr>
              <a:t>(u, </a:t>
            </a:r>
            <a:r>
              <a:rPr sz="1600" b="0" dirty="0" err="1">
                <a:solidFill>
                  <a:srgbClr val="1E2761"/>
                </a:solidFill>
                <a:latin typeface="Cambria Math"/>
              </a:rPr>
              <a:t>τ</a:t>
            </a:r>
            <a:r>
              <a:rPr sz="1600" b="0" dirty="0">
                <a:solidFill>
                  <a:srgbClr val="1E2761"/>
                </a:solidFill>
                <a:latin typeface="Cambria Math"/>
              </a:rPr>
              <a:t>)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two-coordinate state of a run; 20 × 20 grid</a:t>
            </a:r>
          </a:p>
          <a:p>
            <a:pPr>
              <a:spcAft>
                <a:spcPts val="1100"/>
              </a:spcAft>
            </a:pPr>
            <a:r>
              <a:rPr sz="1600" b="0" dirty="0">
                <a:solidFill>
                  <a:srgbClr val="1E2761"/>
                </a:solidFill>
                <a:latin typeface="Cambria Math"/>
              </a:rPr>
              <a:t>2μ(u, </a:t>
            </a:r>
            <a:r>
              <a:rPr sz="1600" b="0" dirty="0" err="1">
                <a:solidFill>
                  <a:srgbClr val="1E2761"/>
                </a:solidFill>
                <a:latin typeface="Cambria Math"/>
              </a:rPr>
              <a:t>τ</a:t>
            </a:r>
            <a:r>
              <a:rPr sz="1600" b="0" dirty="0">
                <a:solidFill>
                  <a:srgbClr val="1E2761"/>
                </a:solidFill>
                <a:latin typeface="Cambria Math"/>
              </a:rPr>
              <a:t>)  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elastic modulus</a:t>
            </a:r>
          </a:p>
          <a:p>
            <a:pPr>
              <a:spcAft>
                <a:spcPts val="1100"/>
              </a:spcAft>
            </a:pPr>
            <a:r>
              <a:rPr sz="1600" b="0" dirty="0">
                <a:solidFill>
                  <a:srgbClr val="1E2761"/>
                </a:solidFill>
                <a:latin typeface="Cambria Math"/>
              </a:rPr>
              <a:t>s = −</a:t>
            </a:r>
            <a:r>
              <a:rPr sz="1600" b="0" dirty="0" err="1">
                <a:solidFill>
                  <a:srgbClr val="1E2761"/>
                </a:solidFill>
                <a:latin typeface="Cambria Math"/>
              </a:rPr>
              <a:t>Δτ</a:t>
            </a:r>
            <a:r>
              <a:rPr sz="1600" b="0" dirty="0">
                <a:solidFill>
                  <a:srgbClr val="1E2761"/>
                </a:solidFill>
                <a:latin typeface="Cambria Math"/>
              </a:rPr>
              <a:t> </a:t>
            </a:r>
            <a:r>
              <a:rPr lang="en-US" sz="1600" b="0" dirty="0">
                <a:solidFill>
                  <a:srgbClr val="1E2761"/>
                </a:solidFill>
                <a:latin typeface="Cambria Math"/>
              </a:rPr>
              <a:t>  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an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event: a step where the stress drops, of size 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1234440"/>
            <a:ext cx="5303520" cy="31726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100"/>
              </a:spcAft>
            </a:pPr>
            <a:r>
              <a:rPr lang="el-GR" sz="1600" dirty="0">
                <a:solidFill>
                  <a:srgbClr val="1E2761"/>
                </a:solidFill>
                <a:latin typeface="Cambria Math"/>
              </a:rPr>
              <a:t>ρ(</a:t>
            </a:r>
            <a:r>
              <a:rPr lang="en-US" sz="1600" dirty="0">
                <a:solidFill>
                  <a:srgbClr val="1E2761"/>
                </a:solidFill>
                <a:latin typeface="Cambria Math"/>
              </a:rPr>
              <a:t>s) </a:t>
            </a:r>
            <a:r>
              <a:rPr lang="en-US" sz="1600" b="1" dirty="0">
                <a:solidFill>
                  <a:srgbClr val="212121"/>
                </a:solidFill>
              </a:rPr>
              <a:t>density of events </a:t>
            </a:r>
            <a:r>
              <a:rPr lang="en-US" sz="1600" dirty="0">
                <a:solidFill>
                  <a:srgbClr val="212121"/>
                </a:solidFill>
              </a:rPr>
              <a:t>of size s</a:t>
            </a:r>
            <a:endParaRPr lang="en-US" sz="1600" b="0" dirty="0">
              <a:solidFill>
                <a:srgbClr val="1E2761"/>
              </a:solidFill>
              <a:latin typeface="Cambria Math"/>
            </a:endParaRPr>
          </a:p>
          <a:p>
            <a:pPr>
              <a:spcAft>
                <a:spcPts val="1100"/>
              </a:spcAft>
            </a:pPr>
            <a:r>
              <a:rPr sz="1600" b="0" dirty="0">
                <a:solidFill>
                  <a:srgbClr val="1E2761"/>
                </a:solidFill>
                <a:latin typeface="Cambria Math"/>
              </a:rPr>
              <a:t>p(u, </a:t>
            </a:r>
            <a:r>
              <a:rPr sz="1600" b="0" dirty="0" err="1">
                <a:solidFill>
                  <a:srgbClr val="1E2761"/>
                </a:solidFill>
                <a:latin typeface="Cambria Math"/>
              </a:rPr>
              <a:t>τ</a:t>
            </a:r>
            <a:r>
              <a:rPr sz="1600" b="0" dirty="0">
                <a:solidFill>
                  <a:srgbClr val="1E2761"/>
                </a:solidFill>
                <a:latin typeface="Cambria Math"/>
              </a:rPr>
              <a:t>) </a:t>
            </a:r>
            <a:r>
              <a:rPr sz="1500" b="1" dirty="0">
                <a:solidFill>
                  <a:srgbClr val="212121"/>
                </a:solidFill>
                <a:latin typeface="Calibri"/>
              </a:rPr>
              <a:t>probability per step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that an 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event occurs</a:t>
            </a:r>
            <a:endParaRPr sz="1500" b="0" dirty="0">
              <a:solidFill>
                <a:srgbClr val="212121"/>
              </a:solidFill>
              <a:latin typeface="Calibri"/>
            </a:endParaRPr>
          </a:p>
          <a:p>
            <a:pPr>
              <a:spcAft>
                <a:spcPts val="1100"/>
              </a:spcAft>
            </a:pPr>
            <a:r>
              <a:rPr sz="1600" b="0" dirty="0">
                <a:solidFill>
                  <a:srgbClr val="1E2761"/>
                </a:solidFill>
                <a:latin typeface="Cambria Math"/>
              </a:rPr>
              <a:t>P(s | u, </a:t>
            </a:r>
            <a:r>
              <a:rPr sz="1600" b="0" dirty="0" err="1">
                <a:solidFill>
                  <a:srgbClr val="1E2761"/>
                </a:solidFill>
                <a:latin typeface="Cambria Math"/>
              </a:rPr>
              <a:t>τ</a:t>
            </a:r>
            <a:r>
              <a:rPr sz="1600" b="0" dirty="0">
                <a:solidFill>
                  <a:srgbClr val="1E2761"/>
                </a:solidFill>
                <a:latin typeface="Cambria Math"/>
              </a:rPr>
              <a:t>) </a:t>
            </a:r>
            <a:r>
              <a:rPr sz="1500" b="1" dirty="0">
                <a:solidFill>
                  <a:srgbClr val="212121"/>
                </a:solidFill>
                <a:latin typeface="Calibri"/>
              </a:rPr>
              <a:t>size distribution of events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at a given state</a:t>
            </a:r>
          </a:p>
          <a:p>
            <a:pPr>
              <a:spcAft>
                <a:spcPts val="1100"/>
              </a:spcAft>
            </a:pPr>
            <a:r>
              <a:rPr sz="1600" b="0" dirty="0" err="1">
                <a:solidFill>
                  <a:srgbClr val="1E2761"/>
                </a:solidFill>
                <a:latin typeface="Cambria Math"/>
              </a:rPr>
              <a:t>s_c</a:t>
            </a:r>
            <a:r>
              <a:rPr sz="1600" b="0" dirty="0">
                <a:solidFill>
                  <a:srgbClr val="1E2761"/>
                </a:solidFill>
                <a:latin typeface="Cambria Math"/>
              </a:rPr>
              <a:t>(u, </a:t>
            </a:r>
            <a:r>
              <a:rPr sz="1600" b="0" dirty="0" err="1">
                <a:solidFill>
                  <a:srgbClr val="1E2761"/>
                </a:solidFill>
                <a:latin typeface="Cambria Math"/>
              </a:rPr>
              <a:t>τ</a:t>
            </a:r>
            <a:r>
              <a:rPr sz="1600" b="0" dirty="0">
                <a:solidFill>
                  <a:srgbClr val="1E2761"/>
                </a:solidFill>
                <a:latin typeface="Cambria Math"/>
              </a:rPr>
              <a:t>) </a:t>
            </a:r>
            <a:r>
              <a:rPr sz="1500" b="1" dirty="0">
                <a:solidFill>
                  <a:srgbClr val="212121"/>
                </a:solidFill>
                <a:latin typeface="Calibri"/>
              </a:rPr>
              <a:t>the largest event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a state can produce</a:t>
            </a:r>
          </a:p>
          <a:p>
            <a:pPr>
              <a:spcAft>
                <a:spcPts val="1100"/>
              </a:spcAft>
            </a:pPr>
            <a:r>
              <a:rPr sz="1600" b="0" dirty="0">
                <a:solidFill>
                  <a:srgbClr val="1E2761"/>
                </a:solidFill>
                <a:latin typeface="Cambria Math"/>
              </a:rPr>
              <a:t>k, m, </a:t>
            </a:r>
            <a:r>
              <a:rPr sz="1600" b="0" dirty="0" err="1">
                <a:solidFill>
                  <a:srgbClr val="1E2761"/>
                </a:solidFill>
                <a:latin typeface="Cambria Math"/>
              </a:rPr>
              <a:t>ε</a:t>
            </a:r>
            <a:r>
              <a:rPr sz="1600" b="0" dirty="0">
                <a:solidFill>
                  <a:srgbClr val="1E2761"/>
                </a:solidFill>
                <a:latin typeface="Cambria Math"/>
              </a:rPr>
              <a:t>   </a:t>
            </a:r>
            <a:r>
              <a:rPr sz="1500" b="1" dirty="0">
                <a:solidFill>
                  <a:srgbClr val="212121"/>
                </a:solidFill>
                <a:latin typeface="Calibri"/>
              </a:rPr>
              <a:t>constants </a:t>
            </a:r>
            <a:endParaRPr lang="en-US" sz="1500" b="1" dirty="0">
              <a:solidFill>
                <a:srgbClr val="212121"/>
              </a:solidFill>
              <a:latin typeface="Calibri"/>
            </a:endParaRPr>
          </a:p>
          <a:p>
            <a:pPr>
              <a:spcAft>
                <a:spcPts val="1100"/>
              </a:spcAft>
            </a:pPr>
            <a:r>
              <a:rPr sz="1600" b="0" dirty="0">
                <a:solidFill>
                  <a:srgbClr val="1E2761"/>
                </a:solidFill>
                <a:latin typeface="Cambria Math"/>
              </a:rPr>
              <a:t>q(u, </a:t>
            </a:r>
            <a:r>
              <a:rPr sz="1600" b="0" dirty="0" err="1">
                <a:solidFill>
                  <a:srgbClr val="1E2761"/>
                </a:solidFill>
                <a:latin typeface="Cambria Math"/>
              </a:rPr>
              <a:t>τ</a:t>
            </a:r>
            <a:r>
              <a:rPr sz="1600" b="0" dirty="0">
                <a:solidFill>
                  <a:srgbClr val="1E2761"/>
                </a:solidFill>
                <a:latin typeface="Cambria Math"/>
              </a:rPr>
              <a:t>)  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plastic fraction of the strain rate</a:t>
            </a:r>
            <a:r>
              <a:rPr lang="en-US" sz="1500" dirty="0">
                <a:solidFill>
                  <a:srgbClr val="212121"/>
                </a:solidFill>
                <a:latin typeface="Calibri"/>
              </a:rPr>
              <a:t>: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 0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-&gt;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elastic, 1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-&gt;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steady 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state</a:t>
            </a:r>
          </a:p>
          <a:p>
            <a:pPr>
              <a:spcAft>
                <a:spcPts val="1100"/>
              </a:spcAft>
            </a:pPr>
            <a:r>
              <a:rPr lang="en-US" sz="1500" dirty="0">
                <a:solidFill>
                  <a:srgbClr val="212121"/>
                </a:solidFill>
                <a:latin typeface="Calibri"/>
              </a:rPr>
              <a:t>	eq.-&gt; </a:t>
            </a:r>
            <a:r>
              <a:rPr lang="en-US" sz="1500" dirty="0">
                <a:solidFill>
                  <a:srgbClr val="212121"/>
                </a:solidFill>
              </a:rPr>
              <a:t>q = 1 − (d</a:t>
            </a:r>
            <a:r>
              <a:rPr lang="el-GR" sz="1500" dirty="0">
                <a:solidFill>
                  <a:srgbClr val="212121"/>
                </a:solidFill>
              </a:rPr>
              <a:t>τ/</a:t>
            </a:r>
            <a:r>
              <a:rPr lang="en-US" sz="1500" dirty="0">
                <a:solidFill>
                  <a:srgbClr val="212121"/>
                </a:solidFill>
              </a:rPr>
              <a:t>d</a:t>
            </a:r>
            <a:r>
              <a:rPr lang="el-GR" sz="1500" dirty="0">
                <a:solidFill>
                  <a:srgbClr val="212121"/>
                </a:solidFill>
              </a:rPr>
              <a:t>γ)/2μ</a:t>
            </a:r>
            <a:endParaRPr sz="1500" b="0" dirty="0">
              <a:solidFill>
                <a:srgbClr val="212121"/>
              </a:solidFill>
              <a:latin typeface="Calibri"/>
            </a:endParaRPr>
          </a:p>
          <a:p>
            <a:pPr>
              <a:spcAft>
                <a:spcPts val="1100"/>
              </a:spcAft>
            </a:pPr>
            <a:r>
              <a:rPr sz="1600" b="0" dirty="0">
                <a:solidFill>
                  <a:srgbClr val="1E2761"/>
                </a:solidFill>
                <a:latin typeface="Cambria Math"/>
              </a:rPr>
              <a:t>aging event  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a step where u drops but </a:t>
            </a:r>
            <a:r>
              <a:rPr sz="1500" b="0" dirty="0" err="1">
                <a:solidFill>
                  <a:srgbClr val="212121"/>
                </a:solidFill>
                <a:latin typeface="Calibri"/>
              </a:rPr>
              <a:t>τ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 does not (105,188); it relaxes energy without releasing stress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The symbolic-regression library  (library/symreg.py)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1000232" cy="15542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 dirty="0">
                <a:solidFill>
                  <a:srgbClr val="1E2761"/>
                </a:solidFill>
                <a:latin typeface="Calibri"/>
              </a:rPr>
              <a:t>What it does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 dirty="0">
                <a:solidFill>
                  <a:srgbClr val="212121"/>
                </a:solidFill>
                <a:latin typeface="Calibri"/>
              </a:rPr>
              <a:t>Given points (x, y), it searches for a formula y = </a:t>
            </a:r>
            <a:r>
              <a:rPr sz="1500" b="0" dirty="0" err="1">
                <a:solidFill>
                  <a:srgbClr val="212121"/>
                </a:solidFill>
                <a:latin typeface="Calibri"/>
              </a:rPr>
              <a:t>a·f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(x) + b </a:t>
            </a:r>
            <a:endParaRPr lang="en-US" sz="1500" b="0" dirty="0">
              <a:solidFill>
                <a:srgbClr val="212121"/>
              </a:solidFill>
              <a:latin typeface="Calibri"/>
            </a:endParaRPr>
          </a:p>
          <a:p>
            <a:pPr marL="228600" indent="-228600">
              <a:spcAft>
                <a:spcPts val="800"/>
              </a:spcAft>
              <a:buChar char="•"/>
            </a:pPr>
            <a:r>
              <a:rPr lang="en-US" sz="1500" b="0" dirty="0">
                <a:solidFill>
                  <a:srgbClr val="212121"/>
                </a:solidFill>
                <a:latin typeface="Calibri"/>
              </a:rPr>
              <a:t>Uses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a 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library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 of operators (exp, log, 1/x, x², √x, and + − × ÷) with up to two fitted constants inside f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lang="en-US" sz="1500" b="0" dirty="0">
                <a:solidFill>
                  <a:srgbClr val="212121"/>
                </a:solidFill>
                <a:latin typeface="Calibri"/>
              </a:rPr>
              <a:t>E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numerates every formula up to a complexity budget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lang="en-US" sz="1500" b="0" dirty="0">
                <a:solidFill>
                  <a:srgbClr val="212121"/>
                </a:solidFill>
                <a:latin typeface="Calibri"/>
              </a:rPr>
              <a:t>R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eturns the exact Pareto front: the best misfit at each complexity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86100"/>
            <a:ext cx="11018520" cy="15542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 dirty="0">
                <a:solidFill>
                  <a:srgbClr val="1E2761"/>
                </a:solidFill>
                <a:latin typeface="Calibri"/>
              </a:rPr>
              <a:t>How it was used here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 dirty="0">
                <a:solidFill>
                  <a:srgbClr val="212121"/>
                </a:solidFill>
                <a:latin typeface="Calibri"/>
              </a:rPr>
              <a:t>Target: the 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(20)</a:t>
            </a:r>
            <a:r>
              <a:rPr lang="en-US" sz="1500" dirty="0">
                <a:solidFill>
                  <a:srgbClr val="212121"/>
                </a:solidFill>
              </a:rPr>
              <a:t>binned </a:t>
            </a:r>
            <a:r>
              <a:rPr sz="1500" b="1" dirty="0">
                <a:solidFill>
                  <a:srgbClr val="212121"/>
                </a:solidFill>
                <a:latin typeface="Calibri"/>
              </a:rPr>
              <a:t>log-density ln </a:t>
            </a:r>
            <a:r>
              <a:rPr sz="1500" b="1" dirty="0" err="1">
                <a:solidFill>
                  <a:srgbClr val="212121"/>
                </a:solidFill>
                <a:latin typeface="Calibri"/>
              </a:rPr>
              <a:t>ρ</a:t>
            </a:r>
            <a:r>
              <a:rPr sz="1500" b="1" dirty="0">
                <a:solidFill>
                  <a:srgbClr val="212121"/>
                </a:solidFill>
                <a:latin typeface="Calibri"/>
              </a:rPr>
              <a:t>(s)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in one grid cell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 dirty="0">
                <a:solidFill>
                  <a:srgbClr val="212121"/>
                </a:solidFill>
                <a:latin typeface="Calibri"/>
              </a:rPr>
              <a:t>Run on 12 cells spanning the state plane (700 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-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 7,600 events each), plus variants with unweighted bins and a wider size window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 dirty="0">
                <a:solidFill>
                  <a:srgbClr val="212121"/>
                </a:solidFill>
                <a:latin typeface="Calibri"/>
              </a:rPr>
              <a:t>Budget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 a complexity of 8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: 624,936 formula trees per cel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l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, 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~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10,300 distinct admissible functions </a:t>
            </a:r>
            <a:endParaRPr lang="en-US" sz="1500" b="0" dirty="0">
              <a:solidFill>
                <a:srgbClr val="212121"/>
              </a:solidFill>
              <a:latin typeface="Calibri"/>
            </a:endParaRPr>
          </a:p>
          <a:p>
            <a:pPr marL="685800" lvl="1" indent="-228600">
              <a:spcAft>
                <a:spcPts val="800"/>
              </a:spcAft>
              <a:buChar char="•"/>
            </a:pPr>
            <a:r>
              <a:rPr lang="en-US" sz="1500" b="0" dirty="0">
                <a:solidFill>
                  <a:srgbClr val="212121"/>
                </a:solidFill>
                <a:latin typeface="Calibri"/>
              </a:rPr>
              <a:t>Just to check – another </a:t>
            </a:r>
            <a:r>
              <a:rPr sz="1500" b="0" dirty="0">
                <a:solidFill>
                  <a:srgbClr val="212121"/>
                </a:solidFill>
                <a:latin typeface="Calibri"/>
              </a:rPr>
              <a:t>run at complexity 9 (4.5 million trees) </a:t>
            </a:r>
            <a:r>
              <a:rPr lang="en-US" sz="1500" b="0" dirty="0">
                <a:solidFill>
                  <a:srgbClr val="212121"/>
                </a:solidFill>
                <a:latin typeface="Calibri"/>
              </a:rPr>
              <a:t>shows only mild improvement</a:t>
            </a:r>
            <a:endParaRPr sz="1500" b="0" dirty="0">
              <a:solidFill>
                <a:srgbClr val="212121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What the search finds at each complexity budget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E2761"/>
                </a:solidFill>
                <a:latin typeface="Calibri"/>
              </a:rPr>
              <a:t>The audited cell (6,706 events): best formula for ln ρ(s) at each complexity, and its RMS misfit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554480"/>
          <a:ext cx="10881360" cy="27889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914400"/>
                <a:gridCol w="3291840"/>
                <a:gridCol w="914400"/>
                <a:gridCol w="5760720"/>
              </a:tblGrid>
              <a:tr h="34861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budget</a:t>
                      </a:r>
                    </a:p>
                  </a:txBody>
                  <a:tcPr marL="73152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form found</a:t>
                      </a:r>
                    </a:p>
                  </a:txBody>
                  <a:tcPr marL="73152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misfit</a:t>
                      </a:r>
                    </a:p>
                  </a:txBody>
                  <a:tcPr marL="73152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73152" marR="54864" marT="27432" marB="27432" anchor="ctr">
                    <a:solidFill>
                      <a:srgbClr val="1E2761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761"/>
                          </a:solidFill>
                          <a:latin typeface="Cambria Math"/>
                        </a:rPr>
                        <a:t>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1.22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a straight line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761"/>
                          </a:solidFill>
                          <a:latin typeface="Cambria Math"/>
                        </a:rPr>
                        <a:t>log 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0.30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a pure power law, ρ ∝ s⁻ᵏ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761"/>
                          </a:solidFill>
                          <a:latin typeface="Cambria Math"/>
                        </a:rPr>
                        <a:t>log(s + 4.6×10⁻⁴)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0.21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a power law rounded off at small 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761"/>
                          </a:solidFill>
                          <a:latin typeface="Cambria Math"/>
                        </a:rPr>
                        <a:t>√log(1/s)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0.143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the √log family: fits the bins, fails the likelihood test (ΔAIC ≈ +20,000)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761"/>
                          </a:solidFill>
                          <a:latin typeface="Cambria Math"/>
                        </a:rPr>
                        <a:t>√log(0.79/s)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0.142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same family, one constant added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761"/>
                          </a:solidFill>
                          <a:latin typeface="Cambria Math"/>
                        </a:rPr>
                        <a:t>log(1/(s + 1.6×10⁻⁴) − 2.25)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0.118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the ceiling law (below)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761"/>
                          </a:solidFill>
                          <a:latin typeface="Cambria Math"/>
                        </a:rPr>
                        <a:t>s + √(−0.93 − log s)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0.103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the √log family again, with a linear term; still loses under likelihood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526280"/>
            <a:ext cx="1097280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How the complexity-8 form becomes the law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The fit is ln ρ = a·f(s) + b with f = log(1/(s + ε) − C).  Exponentiating: </a:t>
            </a:r>
            <a:r>
              <a:rPr sz="1400" b="1">
                <a:solidFill>
                  <a:srgbClr val="212121"/>
                </a:solidFill>
                <a:latin typeface="Calibri"/>
              </a:rPr>
              <a:t>ρ ∝ [1/(s + ε) − C]ᵃ = [C(s_c − s)/(s + ε)]ᵃ</a:t>
            </a:r>
            <a:r>
              <a:rPr sz="1400" b="0">
                <a:solidFill>
                  <a:srgbClr val="212121"/>
                </a:solidFill>
                <a:latin typeface="Calibri"/>
              </a:rPr>
              <a:t> with </a:t>
            </a:r>
            <a:r>
              <a:rPr sz="1400" b="1">
                <a:solidFill>
                  <a:srgbClr val="212121"/>
                </a:solidFill>
                <a:latin typeface="Calibri"/>
              </a:rPr>
              <a:t>s_c = 1/C − ε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So the search hands over a bounded form with tied exponents, m = k = a.  The likelihood stage then frees m from k (8 of 8 cells prefer it)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Complexity 9 still lowers the misfit, but only by promoting a family the likelihood had already rejected. No new family appears, and the complexity-8 knee is unchanged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The discovered law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0">
                <a:solidFill>
                  <a:srgbClr val="1E2761"/>
                </a:solidFill>
                <a:latin typeface="Cambria Math"/>
              </a:rPr>
              <a:t>P(s | u, τ)  =  (1/Z) · (s_c(u, τ) − s)ᵐ / (s + ε)ᵏ ,     0 &lt; s &lt; s_c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6E7B85"/>
                </a:solidFill>
                <a:latin typeface="Cambria Math"/>
              </a:rPr>
              <a:t>k = 0.88,     m = 2.3,     ε = 2.8 × 10⁻⁵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0972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E2761"/>
                </a:solidFill>
                <a:latin typeface="Cambria Math"/>
              </a:rPr>
              <a:t>(s + ε)⁻ᵏ   </a:t>
            </a:r>
            <a:r>
              <a:rPr sz="1500" b="1">
                <a:solidFill>
                  <a:srgbClr val="212121"/>
                </a:solidFill>
                <a:latin typeface="Calibri"/>
              </a:rPr>
              <a:t>power-law decay</a:t>
            </a:r>
            <a:r>
              <a:rPr sz="1500" b="0">
                <a:solidFill>
                  <a:srgbClr val="212121"/>
                </a:solidFill>
                <a:latin typeface="Calibri"/>
              </a:rPr>
              <a:t> with exponent k ≈ 0.9; ε rounds it off below about 3 × 10⁻⁵, so there is no lower cutoff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E2761"/>
                </a:solidFill>
                <a:latin typeface="Cambria Math"/>
              </a:rPr>
              <a:t>(s_c − s)ᵐ   </a:t>
            </a:r>
            <a:r>
              <a:rPr sz="1500" b="1">
                <a:solidFill>
                  <a:srgbClr val="212121"/>
                </a:solidFill>
                <a:latin typeface="Calibri"/>
              </a:rPr>
              <a:t>hard ceiling</a:t>
            </a:r>
            <a:r>
              <a:rPr sz="1500" b="0">
                <a:solidFill>
                  <a:srgbClr val="212121"/>
                </a:solidFill>
                <a:latin typeface="Calibri"/>
              </a:rPr>
              <a:t>: density is zero at s = s_c. With m ≈ 2 it vanishes gently, so the largest observed event sits a few percent below s_c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E2761"/>
                </a:solidFill>
                <a:latin typeface="Cambria Math"/>
              </a:rPr>
              <a:t>s_c(u, τ)   </a:t>
            </a:r>
            <a:r>
              <a:rPr sz="1500" b="1">
                <a:solidFill>
                  <a:srgbClr val="212121"/>
                </a:solidFill>
                <a:latin typeface="Calibri"/>
              </a:rPr>
              <a:t>the only place the state enters</a:t>
            </a:r>
            <a:r>
              <a:rPr sz="1500" b="0">
                <a:solidFill>
                  <a:srgbClr val="212121"/>
                </a:solidFill>
                <a:latin typeface="Calibri"/>
              </a:rPr>
              <a:t>: 146× range over the plane (0.02 cold and unloaded, 3 in flow); ln s_c ≈ (u-part) + (τ-part) at 95.5% of the variance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E2761"/>
                </a:solidFill>
                <a:latin typeface="Cambria Math"/>
              </a:rPr>
              <a:t>Z   </a:t>
            </a:r>
            <a:r>
              <a:rPr sz="1500" b="0">
                <a:solidFill>
                  <a:srgbClr val="212121"/>
                </a:solidFill>
                <a:latin typeface="Calibri"/>
              </a:rPr>
              <a:t>normalization, computed numerically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0916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Versus the usual truncated power law  s⁻ᵏ e^(−s/s*)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An exponential tail suppresses large events but never forbids them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It sits inside the search space at complexity 7 and never made a Pareto front; it loses every likelihood contest that follows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Performance: one cell, three candidate laws</a:t>
            </a:r>
          </a:p>
        </p:txBody>
      </p:sp>
      <p:pic>
        <p:nvPicPr>
          <p:cNvPr id="3" name="Picture 2" descr="fig01_size_l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96340"/>
            <a:ext cx="6309360" cy="4556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86600" y="128016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The largest cell, 6,706 events, five decades of 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Black: measured density. </a:t>
            </a:r>
            <a:r>
              <a:rPr sz="1400" b="1">
                <a:solidFill>
                  <a:srgbClr val="212121"/>
                </a:solidFill>
                <a:latin typeface="Calibri"/>
              </a:rPr>
              <a:t>Red: ceiling law</a:t>
            </a:r>
            <a:r>
              <a:rPr sz="1400" b="0">
                <a:solidFill>
                  <a:srgbClr val="212121"/>
                </a:solidFill>
                <a:latin typeface="Calibri"/>
              </a:rPr>
              <a:t>. Blue dashed: best truncated power law (TPL). Green dotted: best lognormal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All three are maximum-likelihood fits of proper densities on the same events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Only the ceiling law gets </a:t>
            </a:r>
            <a:r>
              <a:rPr sz="1400" b="1">
                <a:solidFill>
                  <a:srgbClr val="212121"/>
                </a:solidFill>
                <a:latin typeface="Calibri"/>
              </a:rPr>
              <a:t>both ends</a:t>
            </a:r>
            <a:r>
              <a:rPr sz="1400" b="0">
                <a:solidFill>
                  <a:srgbClr val="212121"/>
                </a:solidFill>
                <a:latin typeface="Calibri"/>
              </a:rPr>
              <a:t>: the flattening below 3 × 10⁻⁵ and the stop at the dotted line (s_c)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The TPL tail decays too softly and overshoots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Full range: ceiling law over TPL by </a:t>
            </a:r>
            <a:r>
              <a:rPr sz="1400" b="1">
                <a:solidFill>
                  <a:srgbClr val="212121"/>
                </a:solidFill>
                <a:latin typeface="Calibri"/>
              </a:rPr>
              <a:t>ΔAIC 200 to 345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Performance: every cell, and a control</a:t>
            </a:r>
          </a:p>
        </p:txBody>
      </p:sp>
      <p:pic>
        <p:nvPicPr>
          <p:cNvPr id="3" name="Picture 2" descr="fig02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978" y="1143000"/>
            <a:ext cx="5254283" cy="3794760"/>
          </a:xfrm>
          <a:prstGeom prst="rect">
            <a:avLst/>
          </a:prstGeom>
        </p:spPr>
      </p:pic>
      <p:pic>
        <p:nvPicPr>
          <p:cNvPr id="4" name="Picture 3" descr="fig04_falsifi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5690" y="1143000"/>
            <a:ext cx="5254283" cy="3794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0"/>
            <a:ext cx="53949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Left: the collapse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Twelve cells, 100× apart in scale, plotted against </a:t>
            </a:r>
            <a:r>
              <a:rPr sz="1350" b="1">
                <a:solidFill>
                  <a:srgbClr val="212121"/>
                </a:solidFill>
                <a:latin typeface="Calibri"/>
              </a:rPr>
              <a:t>ξ = (s+ε)/(s_c+ε)</a:t>
            </a:r>
            <a:r>
              <a:rPr sz="1350" b="0">
                <a:solidFill>
                  <a:srgbClr val="212121"/>
                </a:solidFill>
                <a:latin typeface="Calibri"/>
              </a:rPr>
              <a:t> with the global (k, m, ε): one curve, including the bend into the ceiling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5029200"/>
            <a:ext cx="53035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Right: the same machinery on synthetic data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TPL-generated catalogs return a TPL verdict, 5 of 5; ceiling-generated return the ceiling, 5 of 5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Measured cells sit on the ceiling side; in the 8 largest, </a:t>
            </a:r>
            <a:r>
              <a:rPr sz="1350" b="1">
                <a:solidFill>
                  <a:srgbClr val="212121"/>
                </a:solidFill>
                <a:latin typeface="Calibri"/>
              </a:rPr>
              <a:t>AIC 8 of 8</a:t>
            </a:r>
            <a:r>
              <a:rPr sz="1350" b="0">
                <a:solidFill>
                  <a:srgbClr val="212121"/>
                </a:solidFill>
                <a:latin typeface="Calibri"/>
              </a:rPr>
              <a:t> (ΔAIC 67 to 120 over TPL, 300 to 754 over lognormal)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Performance: the plastic-rate field, rebuilt from the law</a:t>
            </a:r>
          </a:p>
        </p:txBody>
      </p:sp>
      <p:pic>
        <p:nvPicPr>
          <p:cNvPr id="3" name="Picture 2" descr="fig09_q_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1188720"/>
            <a:ext cx="558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75120" y="1280160"/>
            <a:ext cx="49834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Measured q against q from the law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Measured: </a:t>
            </a:r>
            <a:r>
              <a:rPr sz="1400" b="1">
                <a:solidFill>
                  <a:srgbClr val="212121"/>
                </a:solidFill>
                <a:latin typeface="Calibri"/>
              </a:rPr>
              <a:t>q = 1 − (dτ/dγ)/2μ</a:t>
            </a:r>
            <a:r>
              <a:rPr sz="1400" b="0">
                <a:solidFill>
                  <a:srgbClr val="212121"/>
                </a:solidFill>
                <a:latin typeface="Calibri"/>
              </a:rPr>
              <a:t> per cell, first pass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From the law: </a:t>
            </a:r>
            <a:r>
              <a:rPr sz="1400" b="1">
                <a:solidFill>
                  <a:srgbClr val="212121"/>
                </a:solidFill>
                <a:latin typeface="Calibri"/>
              </a:rPr>
              <a:t>hazard × mean event size</a:t>
            </a:r>
            <a:r>
              <a:rPr sz="1400" b="0">
                <a:solidFill>
                  <a:srgbClr val="212121"/>
                </a:solidFill>
                <a:latin typeface="Calibri"/>
              </a:rPr>
              <a:t>, the mean taken from the fitted P(s | u, τ)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One dot per cell, two decades of q; band = statistical noise floor of this grid, </a:t>
            </a:r>
            <a:r>
              <a:rPr sz="1400" b="1">
                <a:solidFill>
                  <a:srgbClr val="212121"/>
                </a:solidFill>
                <a:latin typeface="Calibri"/>
              </a:rPr>
              <a:t>17.5%</a:t>
            </a:r>
            <a:r>
              <a:rPr sz="1400" b="0">
                <a:solidFill>
                  <a:srgbClr val="212121"/>
                </a:solidFill>
                <a:latin typeface="Calibri"/>
              </a:rPr>
              <a:t> (split-half ensembles)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Rebuilt field: </a:t>
            </a:r>
            <a:r>
              <a:rPr sz="1400" b="1">
                <a:solidFill>
                  <a:srgbClr val="212121"/>
                </a:solidFill>
                <a:latin typeface="Calibri"/>
              </a:rPr>
              <a:t>median +1.8%, RMS 17%</a:t>
            </a:r>
            <a:r>
              <a:rPr sz="1400" b="0">
                <a:solidFill>
                  <a:srgbClr val="212121"/>
                </a:solidFill>
                <a:latin typeface="Calibri"/>
              </a:rPr>
              <a:t>, within the noise. A better law could not score better here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Same factor structure: both versions factorize at 96%, same SR knee, nearly the same constants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Running the model with the discovered law</a:t>
            </a:r>
          </a:p>
        </p:txBody>
      </p:sp>
      <p:pic>
        <p:nvPicPr>
          <p:cNvPr id="3" name="Picture 2" descr="fig12_sim_st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002" y="1143000"/>
            <a:ext cx="5400235" cy="3794760"/>
          </a:xfrm>
          <a:prstGeom prst="rect">
            <a:avLst/>
          </a:prstGeom>
        </p:spPr>
      </p:pic>
      <p:pic>
        <p:nvPicPr>
          <p:cNvPr id="4" name="Picture 3" descr="fig14_sim_pea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2714" y="1143000"/>
            <a:ext cx="5400235" cy="3794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0"/>
            <a:ext cx="53949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All 850 runs, forward from their measured initial states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Each step at Δγ = 10⁻⁵: elastic drift at 2μ, an event with probability p(u, τ), size drawn from the law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MD solid, model dashed: elastic rise, </a:t>
            </a:r>
            <a:r>
              <a:rPr sz="1350" b="1">
                <a:solidFill>
                  <a:srgbClr val="212121"/>
                </a:solidFill>
                <a:latin typeface="Calibri"/>
              </a:rPr>
              <a:t>yield overshoot across 256× in cooling rate</a:t>
            </a:r>
            <a:r>
              <a:rPr sz="1350" b="0">
                <a:solidFill>
                  <a:srgbClr val="212121"/>
                </a:solidFill>
                <a:latin typeface="Calibri"/>
              </a:rPr>
              <a:t>, post-yield decay, flow stress (±5%)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5029200"/>
            <a:ext cx="53035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The 850 yield peaks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Ceiling law </a:t>
            </a:r>
            <a:r>
              <a:rPr sz="1350" b="1">
                <a:solidFill>
                  <a:srgbClr val="212121"/>
                </a:solidFill>
                <a:latin typeface="Calibri"/>
              </a:rPr>
              <a:t>RMS 2.5%</a:t>
            </a:r>
            <a:r>
              <a:rPr sz="1350" b="0">
                <a:solidFill>
                  <a:srgbClr val="212121"/>
                </a:solidFill>
                <a:latin typeface="Calibri"/>
              </a:rPr>
              <a:t> (worst rate 4.3%); TPL 1.4%; raw-event resampling 0.9%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Peaks feel only the mean event size, so they do not discriminate size laws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990011"/>
                </a:solidFill>
                <a:latin typeface="Calibri"/>
              </a:rPr>
              <a:t>The energy-convergence problem</a:t>
            </a:r>
          </a:p>
        </p:txBody>
      </p:sp>
      <p:pic>
        <p:nvPicPr>
          <p:cNvPr id="3" name="Picture 2" descr="fig13_sim_ener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57917"/>
            <a:ext cx="6309360" cy="44336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86600" y="128016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The same comparison for u(γ)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Early: right. Late: the dashed curves </a:t>
            </a:r>
            <a:r>
              <a:rPr sz="1400" b="1">
                <a:solidFill>
                  <a:srgbClr val="212121"/>
                </a:solidFill>
                <a:latin typeface="Calibri"/>
              </a:rPr>
              <a:t>pinch together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Spread of mean u across preparations at γ = 0.5: </a:t>
            </a:r>
            <a:r>
              <a:rPr sz="1400" b="1">
                <a:solidFill>
                  <a:srgbClr val="212121"/>
                </a:solidFill>
                <a:latin typeface="Calibri"/>
              </a:rPr>
              <a:t>24% in the data, 4% in the model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The fields are one map for all histories, so two runs at the same (u, τ) evolve identically however they got there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The data disagree: at the same (u, τ), slow-cooled glass has a </a:t>
            </a:r>
            <a:r>
              <a:rPr sz="1400" b="1">
                <a:solidFill>
                  <a:srgbClr val="212121"/>
                </a:solidFill>
                <a:latin typeface="Calibri"/>
              </a:rPr>
              <a:t>1.71× higher ceiling</a:t>
            </a:r>
            <a:r>
              <a:rPr sz="1400" b="0">
                <a:solidFill>
                  <a:srgbClr val="212121"/>
                </a:solidFill>
                <a:latin typeface="Calibri"/>
              </a:rPr>
              <a:t> than fast-cooled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So (u, τ) is not a sufficient state. Which channel carries the missing information?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The fix: a one-parameter preparation memory in the ceiling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0">
                <a:solidFill>
                  <a:srgbClr val="1E2761"/>
                </a:solidFill>
                <a:latin typeface="Cambria Math"/>
              </a:rPr>
              <a:t>s_c(u, τ; rate)  =  s_c(u, τ) · (rate / rate_mid)^β ,        β = −0.117 ± 0.005</a:t>
            </a:r>
          </a:p>
        </p:txBody>
      </p:sp>
      <p:pic>
        <p:nvPicPr>
          <p:cNvPr id="4" name="Picture 3" descr="fig17_memory_re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51807"/>
            <a:ext cx="6949440" cy="2668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35240" y="1737360"/>
            <a:ext cx="406908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Reading the equation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Only the ceiling is scaled per preparation; hazard, drift, aging, energy coupling unchanged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1">
                <a:solidFill>
                  <a:srgbClr val="212121"/>
                </a:solidFill>
                <a:latin typeface="Calibri"/>
              </a:rPr>
              <a:t>β</a:t>
            </a:r>
            <a:r>
              <a:rPr sz="1250" b="0">
                <a:solidFill>
                  <a:srgbClr val="212121"/>
                </a:solidFill>
                <a:latin typeface="Calibri"/>
              </a:rPr>
              <a:t>: slope of ln(mean event size) on ln(cooling rate) at fixed cell, with cell fixed effects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1">
                <a:solidFill>
                  <a:srgbClr val="212121"/>
                </a:solidFill>
                <a:latin typeface="Calibri"/>
              </a:rPr>
              <a:t>rate_mid</a:t>
            </a:r>
            <a:r>
              <a:rPr sz="1250" b="0">
                <a:solidFill>
                  <a:srgbClr val="212121"/>
                </a:solidFill>
                <a:latin typeface="Calibri"/>
              </a:rPr>
              <a:t>: the middle of the nine rates; factors run 1.38 (slowest) to 0.72 (fastest)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Why the ceiling: the hazard has β = −0.012 ± 0.002 and the drift does not move; the memory is in event size, in the 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61772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Result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Spread of mean u at γ = 0.5: </a:t>
            </a:r>
            <a:r>
              <a:rPr sz="1250" b="1">
                <a:solidFill>
                  <a:srgbClr val="212121"/>
                </a:solidFill>
                <a:latin typeface="Calibri"/>
              </a:rPr>
              <a:t>4.1% → 26.5%</a:t>
            </a:r>
            <a:r>
              <a:rPr sz="1250" b="0">
                <a:solidFill>
                  <a:srgbClr val="212121"/>
                </a:solidFill>
                <a:latin typeface="Calibri"/>
              </a:rPr>
              <a:t>, against 24% in the data, tracking the data across the strain window; yield peaks unchanged (RMS 2.5% → 2.8%)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Within a preparation the same relation, exp(κ·δu₀) with κ = β · d ln(rate)/du₀ = −43 and no new parameter, predicts how long a run remembers its initial energy: 0.44 / 0.27 / 0.22 / 0.17 at γ = 0.1 / 0.2 / 0.3 / 0.5 (data 0.63 / 0.27 / 0.24 / 0.18). The memory relaxes with strain, γ_r ≈ 0.2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1817</Words>
  <Application>Microsoft Macintosh PowerPoint</Application>
  <PresentationFormat>Widescreen</PresentationFormat>
  <Paragraphs>73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Thomas Arbaugh</cp:lastModifiedBy>
  <cp:revision>3</cp:revision>
  <dcterms:created xsi:type="dcterms:W3CDTF">2013-01-27T09:14:16Z</dcterms:created>
  <dcterms:modified xsi:type="dcterms:W3CDTF">2026-09-04T15:26:01Z</dcterms:modified>
  <cp:category/>
</cp:coreProperties>
</file>