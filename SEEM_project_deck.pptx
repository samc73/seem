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7" r:id="rId3"/>
    <p:sldId id="268" r:id="rId4"/>
    <p:sldId id="269" r:id="rId5"/>
    <p:sldId id="257" r:id="rId6"/>
    <p:sldId id="258" r:id="rId7"/>
    <p:sldId id="259" r:id="rId8"/>
    <p:sldId id="270" r:id="rId15"/>
    <p:sldId id="261" r:id="rId10"/>
    <p:sldId id="271" r:id="rId14"/>
    <p:sldId id="272" r:id="rId13"/>
    <p:sldId id="273" r:id="rId12"/>
    <p:sldId id="274" r:id="rId11"/>
    <p:sldId id="275" r:id="rId9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87"/>
  </p:normalViewPr>
  <p:slideViewPr>
    <p:cSldViewPr snapToGrid="0" snapToObjects="1">
      <p:cViewPr>
        <p:scale>
          <a:sx n="110" d="100"/>
          <a:sy n="110" d="100"/>
        </p:scale>
        <p:origin x="824" y="2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4.xml"/><Relationship Id="rId10" Type="http://schemas.openxmlformats.org/officeDocument/2006/relationships/slide" Target="slides/slide8.xml"/><Relationship Id="rId11" Type="http://schemas.openxmlformats.org/officeDocument/2006/relationships/slide" Target="slides/slide13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556A4C-1FD7-434B-80AC-C9E232A2F4A8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A96F5B-8A98-3E49-846B-DE69B9356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4089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96F5B-8A98-3E49-846B-DE69B935615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39688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37360"/>
            <a:ext cx="10515600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4000" b="1" dirty="0">
                <a:solidFill>
                  <a:srgbClr val="1E2761"/>
                </a:solidFill>
                <a:latin typeface="Calibri"/>
              </a:rPr>
              <a:t>SEEM – Symbolic Regression </a:t>
            </a:r>
          </a:p>
          <a:p>
            <a:r>
              <a:rPr lang="en-US" sz="4000" b="1" dirty="0">
                <a:solidFill>
                  <a:srgbClr val="1E2761"/>
                </a:solidFill>
                <a:latin typeface="Calibri"/>
              </a:rPr>
              <a:t>for Constitutive Law Discovery</a:t>
            </a:r>
            <a:endParaRPr sz="4000" b="1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500" b="0" dirty="0">
                <a:solidFill>
                  <a:srgbClr val="6E7B85"/>
                </a:solidFill>
                <a:latin typeface="Calibri"/>
              </a:rPr>
              <a:t>SEEM/LYS Meeting - </a:t>
            </a:r>
            <a:r>
              <a:rPr sz="1500" b="0" dirty="0">
                <a:solidFill>
                  <a:srgbClr val="6E7B85"/>
                </a:solidFill>
                <a:latin typeface="Calibri"/>
              </a:rPr>
              <a:t>September 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ACF36E-3DEB-EA88-2966-222F8DC4C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823" y="1615600"/>
            <a:ext cx="8486353" cy="3626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623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8DF928-620E-5150-16B6-DAF177D12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921" y="603885"/>
            <a:ext cx="10694158" cy="5650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914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1ED3E02-89F8-CBE8-0616-E295031E4CB3}"/>
              </a:ext>
            </a:extLst>
          </p:cNvPr>
          <p:cNvGrpSpPr/>
          <p:nvPr/>
        </p:nvGrpSpPr>
        <p:grpSpPr>
          <a:xfrm>
            <a:off x="0" y="0"/>
            <a:ext cx="6785610" cy="914624"/>
            <a:chOff x="2091690" y="2312670"/>
            <a:chExt cx="6785610" cy="91462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B4D5B55-F1EF-1E32-59E7-8879AB6FB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-1" b="8369"/>
            <a:stretch>
              <a:fillRect/>
            </a:stretch>
          </p:blipFill>
          <p:spPr>
            <a:xfrm>
              <a:off x="2628900" y="2715260"/>
              <a:ext cx="6248400" cy="512034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B278F5B-D3BF-CD2A-4AB6-6A4CB9505D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91690" y="2312670"/>
              <a:ext cx="3048000" cy="647700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C7C8B0C8-CB97-3B61-B118-AAFB741DAEB0}"/>
              </a:ext>
            </a:extLst>
          </p:cNvPr>
          <p:cNvSpPr txBox="1"/>
          <p:nvPr/>
        </p:nvSpPr>
        <p:spPr>
          <a:xfrm>
            <a:off x="5503209" y="1132548"/>
            <a:ext cx="2196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Truncated power law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661309-06C9-CDCD-7642-2067366BA790}"/>
              </a:ext>
            </a:extLst>
          </p:cNvPr>
          <p:cNvCxnSpPr/>
          <p:nvPr/>
        </p:nvCxnSpPr>
        <p:spPr>
          <a:xfrm flipH="1" flipV="1">
            <a:off x="4931709" y="1023586"/>
            <a:ext cx="571500" cy="2179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661651-B1C7-34B4-2245-7E76A8DED53C}"/>
              </a:ext>
            </a:extLst>
          </p:cNvPr>
          <p:cNvCxnSpPr/>
          <p:nvPr/>
        </p:nvCxnSpPr>
        <p:spPr>
          <a:xfrm>
            <a:off x="3491529" y="951012"/>
            <a:ext cx="227457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58133CD-C581-EAAD-2C79-B487D2B9B9D9}"/>
              </a:ext>
            </a:extLst>
          </p:cNvPr>
          <p:cNvSpPr txBox="1"/>
          <p:nvPr/>
        </p:nvSpPr>
        <p:spPr>
          <a:xfrm>
            <a:off x="3736658" y="1575479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“we find that a simple exponential tail does not fit our data.”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1F8297E-6DE9-015C-5677-EEFEACE21229}"/>
              </a:ext>
            </a:extLst>
          </p:cNvPr>
          <p:cNvGrpSpPr/>
          <p:nvPr/>
        </p:nvGrpSpPr>
        <p:grpSpPr>
          <a:xfrm>
            <a:off x="3491529" y="2018410"/>
            <a:ext cx="5975032" cy="4840168"/>
            <a:chOff x="3736658" y="2006151"/>
            <a:chExt cx="5975032" cy="4840168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268981AE-42DC-5848-D612-D1B4CCEF9DD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1069" b="1"/>
            <a:stretch>
              <a:fillRect/>
            </a:stretch>
          </p:blipFill>
          <p:spPr>
            <a:xfrm>
              <a:off x="3859530" y="2327632"/>
              <a:ext cx="5852160" cy="4518687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F2C66DA-6313-68C6-8DCC-986ABD024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36658" y="2006151"/>
              <a:ext cx="647700" cy="520700"/>
            </a:xfrm>
            <a:prstGeom prst="rect">
              <a:avLst/>
            </a:prstGeom>
          </p:spPr>
        </p:pic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D21D286-4AB7-B23B-A0B1-405099AE2D74}"/>
              </a:ext>
            </a:extLst>
          </p:cNvPr>
          <p:cNvCxnSpPr>
            <a:cxnSpLocks/>
          </p:cNvCxnSpPr>
          <p:nvPr/>
        </p:nvCxnSpPr>
        <p:spPr>
          <a:xfrm>
            <a:off x="8381999" y="2539110"/>
            <a:ext cx="104299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5909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1091672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3000" b="1" dirty="0">
                <a:solidFill>
                  <a:srgbClr val="1E2761"/>
                </a:solidFill>
                <a:latin typeface="Calibri"/>
              </a:rPr>
              <a:t>Variables</a:t>
            </a:r>
            <a:endParaRPr sz="3000" b="1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5394960" cy="21826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0" dirty="0" err="1">
                <a:solidFill>
                  <a:srgbClr val="1E2761"/>
                </a:solidFill>
                <a:latin typeface="Cambria Math"/>
              </a:rPr>
              <a:t>γ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applied shear strain; one step is 10⁻⁵, runs go to 0.5</a:t>
            </a:r>
          </a:p>
          <a:p>
            <a:pPr>
              <a:spcAft>
                <a:spcPts val="1100"/>
              </a:spcAft>
            </a:pP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shear stress (raw stress ÷ 10⁴)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u = pe − u₀  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PE/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atom above the reference u₀ = −4.60752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two-coordinate state of a run; 20 × 20 grid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2μ(u,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elastic modulus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s = −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Δτ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</a:t>
            </a:r>
            <a:r>
              <a:rPr lang="en-US" sz="1600" b="0" dirty="0">
                <a:solidFill>
                  <a:srgbClr val="1E2761"/>
                </a:solidFill>
                <a:latin typeface="Cambria Math"/>
              </a:rPr>
              <a:t> 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an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event: a step where the stress drops, of size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234440"/>
            <a:ext cx="5303520" cy="3172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100"/>
              </a:spcAft>
            </a:pPr>
            <a:r>
              <a:rPr lang="el-GR" sz="1600" dirty="0">
                <a:solidFill>
                  <a:srgbClr val="1E2761"/>
                </a:solidFill>
                <a:latin typeface="Cambria Math"/>
              </a:rPr>
              <a:t>ρ(</a:t>
            </a:r>
            <a:r>
              <a:rPr lang="en-US" sz="1600" dirty="0">
                <a:solidFill>
                  <a:srgbClr val="1E2761"/>
                </a:solidFill>
                <a:latin typeface="Cambria Math"/>
              </a:rPr>
              <a:t>s) </a:t>
            </a:r>
            <a:r>
              <a:rPr lang="en-US" sz="1600" b="1" dirty="0">
                <a:solidFill>
                  <a:srgbClr val="212121"/>
                </a:solidFill>
              </a:rPr>
              <a:t>density of events </a:t>
            </a:r>
            <a:r>
              <a:rPr lang="en-US" sz="1600" dirty="0">
                <a:solidFill>
                  <a:srgbClr val="212121"/>
                </a:solidFill>
              </a:rPr>
              <a:t>of size s</a:t>
            </a:r>
            <a:endParaRPr lang="en-US" sz="1600" b="0" dirty="0">
              <a:solidFill>
                <a:srgbClr val="1E2761"/>
              </a:solidFill>
              <a:latin typeface="Cambria Math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p(u,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probability per step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that an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event occurs</a:t>
            </a:r>
            <a:endParaRPr sz="1500" b="0" dirty="0">
              <a:solidFill>
                <a:srgbClr val="212121"/>
              </a:solidFill>
              <a:latin typeface="Calibri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P(s | 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size distribution of events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at a given state</a:t>
            </a:r>
          </a:p>
          <a:p>
            <a:pPr>
              <a:spcAft>
                <a:spcPts val="1100"/>
              </a:spcAft>
            </a:pPr>
            <a:r>
              <a:rPr sz="1600" b="0" dirty="0" err="1">
                <a:solidFill>
                  <a:srgbClr val="1E2761"/>
                </a:solidFill>
                <a:latin typeface="Cambria Math"/>
              </a:rPr>
              <a:t>s_c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the largest event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 state can produce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k, m,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ε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 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constants </a:t>
            </a:r>
            <a:endParaRPr lang="en-US" sz="1500" b="1" dirty="0">
              <a:solidFill>
                <a:srgbClr val="212121"/>
              </a:solidFill>
              <a:latin typeface="Calibri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q(u,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plastic fraction of the strain rate</a:t>
            </a:r>
            <a:r>
              <a:rPr lang="en-US" sz="1500" dirty="0">
                <a:solidFill>
                  <a:srgbClr val="212121"/>
                </a:solidFill>
                <a:latin typeface="Calibri"/>
              </a:rPr>
              <a:t>: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0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-&gt;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elastic, 1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-&gt;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steady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state</a:t>
            </a:r>
          </a:p>
          <a:p>
            <a:pPr>
              <a:spcAft>
                <a:spcPts val="1100"/>
              </a:spcAft>
            </a:pPr>
            <a:r>
              <a:rPr lang="en-US" sz="1500" dirty="0">
                <a:solidFill>
                  <a:srgbClr val="212121"/>
                </a:solidFill>
                <a:latin typeface="Calibri"/>
              </a:rPr>
              <a:t>	eq.-&gt; </a:t>
            </a:r>
            <a:r>
              <a:rPr lang="en-US" sz="1500" dirty="0">
                <a:solidFill>
                  <a:srgbClr val="212121"/>
                </a:solidFill>
              </a:rPr>
              <a:t>q = 1 − (d</a:t>
            </a:r>
            <a:r>
              <a:rPr lang="el-GR" sz="1500" dirty="0">
                <a:solidFill>
                  <a:srgbClr val="212121"/>
                </a:solidFill>
              </a:rPr>
              <a:t>τ/</a:t>
            </a:r>
            <a:r>
              <a:rPr lang="en-US" sz="1500" dirty="0">
                <a:solidFill>
                  <a:srgbClr val="212121"/>
                </a:solidFill>
              </a:rPr>
              <a:t>d</a:t>
            </a:r>
            <a:r>
              <a:rPr lang="el-GR" sz="1500" dirty="0">
                <a:solidFill>
                  <a:srgbClr val="212121"/>
                </a:solidFill>
              </a:rPr>
              <a:t>γ)/2μ</a:t>
            </a:r>
            <a:endParaRPr sz="1500" b="0" dirty="0">
              <a:solidFill>
                <a:srgbClr val="212121"/>
              </a:solidFill>
              <a:latin typeface="Calibri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aging event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 step where u drops but </a:t>
            </a:r>
            <a:r>
              <a:rPr sz="1500" b="0" dirty="0" err="1">
                <a:solidFill>
                  <a:srgbClr val="212121"/>
                </a:solidFill>
                <a:latin typeface="Calibri"/>
              </a:rPr>
              <a:t>τ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does not (105,188); it relaxes energy without releasing stress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1E2761"/>
                </a:solidFill>
                <a:latin typeface="Calibri"/>
              </a:rPr>
              <a:t>The symbolic-regression library  (library/</a:t>
            </a:r>
            <a:r>
              <a:rPr sz="3000" b="1" dirty="0" err="1">
                <a:solidFill>
                  <a:srgbClr val="1E2761"/>
                </a:solidFill>
                <a:latin typeface="Calibri"/>
              </a:rPr>
              <a:t>symreg.py</a:t>
            </a:r>
            <a:r>
              <a:rPr sz="3000" b="1" dirty="0">
                <a:solidFill>
                  <a:srgbClr val="1E2761"/>
                </a:solidFill>
                <a:latin typeface="Calibri"/>
              </a:rPr>
              <a:t>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1000232" cy="1554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>
                <a:solidFill>
                  <a:srgbClr val="1E2761"/>
                </a:solidFill>
                <a:latin typeface="Calibri"/>
              </a:rPr>
              <a:t>What it does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Given points (x, y), it searches for a formula y = </a:t>
            </a:r>
            <a:r>
              <a:rPr sz="1500" b="0" dirty="0" err="1">
                <a:solidFill>
                  <a:srgbClr val="212121"/>
                </a:solidFill>
                <a:latin typeface="Calibri"/>
              </a:rPr>
              <a:t>a·f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(x) + b </a:t>
            </a:r>
            <a:endParaRPr lang="en-US" sz="1500" b="0" dirty="0">
              <a:solidFill>
                <a:srgbClr val="212121"/>
              </a:solidFill>
              <a:latin typeface="Calibri"/>
            </a:endParaRPr>
          </a:p>
          <a:p>
            <a:pPr marL="228600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Uses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library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of operators (exp, log, 1/x, x², √x, and + − × ÷) with up to two fitted constants inside f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E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numerates every formula up to a complexity budget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R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eturns the exact Pareto front: the best misfit at each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86100"/>
            <a:ext cx="11018520" cy="1554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>
                <a:solidFill>
                  <a:srgbClr val="1E2761"/>
                </a:solidFill>
                <a:latin typeface="Calibri"/>
              </a:rPr>
              <a:t>How it was used here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Target: the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(20)</a:t>
            </a:r>
            <a:r>
              <a:rPr lang="en-US" sz="1500" dirty="0">
                <a:solidFill>
                  <a:srgbClr val="212121"/>
                </a:solidFill>
              </a:rPr>
              <a:t>binned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log-density ln </a:t>
            </a:r>
            <a:r>
              <a:rPr sz="1500" b="1" dirty="0" err="1">
                <a:solidFill>
                  <a:srgbClr val="212121"/>
                </a:solidFill>
                <a:latin typeface="Calibri"/>
              </a:rPr>
              <a:t>ρ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(s)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in one grid cell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Run on 12 cells spanning the state plane (700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-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7,600 events each), plus variants with unweighted bins and a wider size window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Budget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 a complexity of 8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: 624,936 formula trees per cel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l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,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~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10,300 distinct admissible functions </a:t>
            </a:r>
            <a:endParaRPr lang="en-US" sz="1500" b="0" dirty="0">
              <a:solidFill>
                <a:srgbClr val="212121"/>
              </a:solidFill>
              <a:latin typeface="Calibri"/>
            </a:endParaRPr>
          </a:p>
          <a:p>
            <a:pPr marL="685800" lvl="1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Just to check – another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run at complexity 9 (4.5 million trees)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shows only mild improvement</a:t>
            </a:r>
            <a:endParaRPr sz="1500" b="0" dirty="0">
              <a:solidFill>
                <a:srgbClr val="21212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1091672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3000" b="1" dirty="0">
                <a:solidFill>
                  <a:srgbClr val="1E2761"/>
                </a:solidFill>
                <a:latin typeface="Calibri"/>
              </a:rPr>
              <a:t>Symbolic Regression at Each Complexity</a:t>
            </a:r>
            <a:endParaRPr sz="3000" b="1" dirty="0">
              <a:solidFill>
                <a:srgbClr val="1E2761"/>
              </a:solidFill>
              <a:latin typeface="Calibri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7392100"/>
              </p:ext>
            </p:extLst>
          </p:nvPr>
        </p:nvGraphicFramePr>
        <p:xfrm>
          <a:off x="640080" y="1245816"/>
          <a:ext cx="11091672" cy="2788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32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5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20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61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marL="73152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form found</a:t>
                      </a:r>
                    </a:p>
                  </a:txBody>
                  <a:tcPr marL="73152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misfit</a:t>
                      </a:r>
                    </a:p>
                  </a:txBody>
                  <a:tcPr marL="73152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73152" marR="54864" marT="27432" marB="27432"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1.22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a straight line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log 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pure power law, </a:t>
                      </a:r>
                      <a:r>
                        <a:rPr sz="1300" b="0" dirty="0" err="1">
                          <a:solidFill>
                            <a:srgbClr val="212121"/>
                          </a:solidFill>
                          <a:latin typeface="Calibri"/>
                        </a:rPr>
                        <a:t>ρ</a:t>
                      </a:r>
                      <a:r>
                        <a:rPr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 ∝ s⁻ᵏ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log(s + 4.6×10⁻⁴)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power law rounded off at small 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√log(1/s)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0.143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fails the likelihood test (ΔAIC ≈ +20,000)</a:t>
                      </a:r>
                      <a:r>
                        <a:rPr lang="en-US" sz="1300" b="0" dirty="0">
                          <a:solidFill>
                            <a:srgbClr val="212121"/>
                          </a:solidFill>
                          <a:latin typeface="+mn-lt"/>
                        </a:rPr>
                        <a:t> [Akaike information criterion, for next time]</a:t>
                      </a:r>
                      <a:endParaRPr sz="1300" b="0" dirty="0">
                        <a:solidFill>
                          <a:srgbClr val="212121"/>
                        </a:solidFill>
                        <a:latin typeface="Calibri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√log(0.79/s)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0.142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same </a:t>
                      </a:r>
                      <a:r>
                        <a:rPr lang="en-US"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as above</a:t>
                      </a:r>
                      <a:endParaRPr sz="1300" b="0" dirty="0">
                        <a:solidFill>
                          <a:srgbClr val="212121"/>
                        </a:solidFill>
                        <a:latin typeface="Calibri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log(1/(s + 1.6×10⁻⁴) − 2.25)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0.118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the ceiling law (below)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s + √(−0.93 − log s)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0.103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same as earlier</a:t>
                      </a:r>
                      <a:r>
                        <a:rPr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, </a:t>
                      </a:r>
                      <a:r>
                        <a:rPr lang="en-US"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now </a:t>
                      </a:r>
                      <a:r>
                        <a:rPr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with a</a:t>
                      </a:r>
                      <a:r>
                        <a:rPr lang="en-US"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nother </a:t>
                      </a:r>
                      <a:r>
                        <a:rPr sz="1300" b="0" dirty="0">
                          <a:solidFill>
                            <a:srgbClr val="212121"/>
                          </a:solidFill>
                          <a:latin typeface="Calibri"/>
                        </a:rPr>
                        <a:t>term; still loses under likelihood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26280"/>
            <a:ext cx="109728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>
                <a:solidFill>
                  <a:srgbClr val="1E2761"/>
                </a:solidFill>
                <a:latin typeface="Calibri"/>
              </a:rPr>
              <a:t>How the complexity-8 form becomes the law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The fit is ln </a:t>
            </a:r>
            <a:r>
              <a:rPr sz="1400" b="0" dirty="0" err="1">
                <a:solidFill>
                  <a:srgbClr val="212121"/>
                </a:solidFill>
                <a:latin typeface="Calibri"/>
              </a:rPr>
              <a:t>ρ</a:t>
            </a:r>
            <a:r>
              <a:rPr sz="1400" b="0" dirty="0">
                <a:solidFill>
                  <a:srgbClr val="212121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212121"/>
                </a:solidFill>
                <a:latin typeface="Calibri"/>
              </a:rPr>
              <a:t>a·f</a:t>
            </a:r>
            <a:r>
              <a:rPr sz="1400" b="0" dirty="0">
                <a:solidFill>
                  <a:srgbClr val="212121"/>
                </a:solidFill>
                <a:latin typeface="Calibri"/>
              </a:rPr>
              <a:t>(s) + b with f = log(1/(s + </a:t>
            </a:r>
            <a:r>
              <a:rPr sz="1400" b="0" dirty="0" err="1">
                <a:solidFill>
                  <a:srgbClr val="212121"/>
                </a:solidFill>
                <a:latin typeface="Calibri"/>
              </a:rPr>
              <a:t>ε</a:t>
            </a:r>
            <a:r>
              <a:rPr sz="1400" b="0" dirty="0">
                <a:solidFill>
                  <a:srgbClr val="212121"/>
                </a:solidFill>
                <a:latin typeface="Calibri"/>
              </a:rPr>
              <a:t>) − C).  Exponentiating: </a:t>
            </a:r>
            <a:r>
              <a:rPr sz="1400" b="1" dirty="0" err="1">
                <a:solidFill>
                  <a:srgbClr val="212121"/>
                </a:solidFill>
                <a:latin typeface="Calibri"/>
              </a:rPr>
              <a:t>ρ</a:t>
            </a:r>
            <a:r>
              <a:rPr sz="1400" b="1" dirty="0">
                <a:solidFill>
                  <a:srgbClr val="212121"/>
                </a:solidFill>
                <a:latin typeface="Calibri"/>
              </a:rPr>
              <a:t> ∝ [1/(s + </a:t>
            </a:r>
            <a:r>
              <a:rPr sz="1400" b="1" dirty="0" err="1">
                <a:solidFill>
                  <a:srgbClr val="212121"/>
                </a:solidFill>
                <a:latin typeface="Calibri"/>
              </a:rPr>
              <a:t>ε</a:t>
            </a:r>
            <a:r>
              <a:rPr sz="1400" b="1" dirty="0">
                <a:solidFill>
                  <a:srgbClr val="212121"/>
                </a:solidFill>
                <a:latin typeface="Calibri"/>
              </a:rPr>
              <a:t>) − C]ᵃ = [C(s_c − s)/(s + </a:t>
            </a:r>
            <a:r>
              <a:rPr sz="1400" b="1" dirty="0" err="1">
                <a:solidFill>
                  <a:srgbClr val="212121"/>
                </a:solidFill>
                <a:latin typeface="Calibri"/>
              </a:rPr>
              <a:t>ε</a:t>
            </a:r>
            <a:r>
              <a:rPr sz="1400" b="1" dirty="0">
                <a:solidFill>
                  <a:srgbClr val="212121"/>
                </a:solidFill>
                <a:latin typeface="Calibri"/>
              </a:rPr>
              <a:t>)]ᵃ</a:t>
            </a:r>
            <a:r>
              <a:rPr sz="1400" b="0" dirty="0">
                <a:solidFill>
                  <a:srgbClr val="212121"/>
                </a:solidFill>
                <a:latin typeface="Calibri"/>
              </a:rPr>
              <a:t> with </a:t>
            </a:r>
            <a:r>
              <a:rPr sz="1400" b="1" dirty="0">
                <a:solidFill>
                  <a:srgbClr val="212121"/>
                </a:solidFill>
                <a:latin typeface="Calibri"/>
              </a:rPr>
              <a:t>s_c = 1/C − </a:t>
            </a:r>
            <a:r>
              <a:rPr sz="1400" b="1" dirty="0" err="1">
                <a:solidFill>
                  <a:srgbClr val="212121"/>
                </a:solidFill>
                <a:latin typeface="Calibri"/>
              </a:rPr>
              <a:t>ε</a:t>
            </a:r>
            <a:endParaRPr sz="1400" b="1" dirty="0">
              <a:solidFill>
                <a:srgbClr val="212121"/>
              </a:solidFill>
              <a:latin typeface="Calibri"/>
            </a:endParaRP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So the search hands over a bounded form with tied exponents, m = k = a.  The likelihood stage then frees m from k (8 of 8 cells prefer it)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 dirty="0">
                <a:solidFill>
                  <a:srgbClr val="212121"/>
                </a:solidFill>
                <a:latin typeface="Calibri"/>
              </a:rPr>
              <a:t>Complexity 9 still lowers the misfit, but only by promoting a family the likelihood had already rejected. No new family appears, and the complexity-8 knee is unchanged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Performance: one cell, three candidate laws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6600" y="128016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The largest cell, 6,706 events, five decades of 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Black: measured density. </a:t>
            </a:r>
            <a:r>
              <a:rPr sz="1400" b="1">
                <a:solidFill>
                  <a:srgbClr val="212121"/>
                </a:solidFill>
                <a:latin typeface="Calibri"/>
              </a:rPr>
              <a:t>Red: ceiling law</a:t>
            </a:r>
            <a:r>
              <a:rPr sz="1400" b="0">
                <a:solidFill>
                  <a:srgbClr val="212121"/>
                </a:solidFill>
                <a:latin typeface="Calibri"/>
              </a:rPr>
              <a:t>. Blue dashed: best truncated power law (TPL). Green dotted: best lognormal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All three are maximum-likelihood fits of proper densities on the same events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Only the ceiling law gets </a:t>
            </a:r>
            <a:r>
              <a:rPr sz="1400" b="1">
                <a:solidFill>
                  <a:srgbClr val="212121"/>
                </a:solidFill>
                <a:latin typeface="Calibri"/>
              </a:rPr>
              <a:t>both ends</a:t>
            </a:r>
            <a:r>
              <a:rPr sz="1400" b="0">
                <a:solidFill>
                  <a:srgbClr val="212121"/>
                </a:solidFill>
                <a:latin typeface="Calibri"/>
              </a:rPr>
              <a:t>: the flattening below 3 × 10⁻⁵ and the stop at the dotted line (s_c)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The TPL tail decays too softly and overshoots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Full range: ceiling law over TPL by </a:t>
            </a:r>
            <a:r>
              <a:rPr sz="1400" b="1">
                <a:solidFill>
                  <a:srgbClr val="212121"/>
                </a:solidFill>
                <a:latin typeface="Calibri"/>
              </a:rPr>
              <a:t>ΔAIC 200 to 345</a:t>
            </a:r>
          </a:p>
        </p:txBody>
      </p:sp>
      <p:pic>
        <p:nvPicPr>
          <p:cNvPr id="5" name="Picture 4" descr="fig01_size_l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" y="978408"/>
            <a:ext cx="6748272" cy="48737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discovered law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1E2761"/>
                </a:solidFill>
                <a:latin typeface="Cambria Math"/>
              </a:rPr>
              <a:t>P(s | u, τ)  =  (1/Z) · (s_c(u, τ) − s)ᵐ / (s + ε)ᵏ ,     0 &lt; s &lt; s_c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6E7B85"/>
                </a:solidFill>
                <a:latin typeface="Cambria Math"/>
              </a:rPr>
              <a:t>k = 0.88,     m = 2.3,     ε = 2.8 × 10⁻⁵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E2761"/>
                </a:solidFill>
                <a:latin typeface="Cambria Math"/>
              </a:rPr>
              <a:t>(s + ε)⁻ᵏ   </a:t>
            </a:r>
            <a:r>
              <a:rPr sz="1500" b="1">
                <a:solidFill>
                  <a:srgbClr val="212121"/>
                </a:solidFill>
                <a:latin typeface="Calibri"/>
              </a:rPr>
              <a:t>power-law decay</a:t>
            </a:r>
            <a:r>
              <a:rPr sz="1500" b="0">
                <a:solidFill>
                  <a:srgbClr val="212121"/>
                </a:solidFill>
                <a:latin typeface="Calibri"/>
              </a:rPr>
              <a:t> with exponent k ≈ 0.9; ε rounds it off below about 3 × 10⁻⁵, so there is no lower cutoff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761"/>
                </a:solidFill>
                <a:latin typeface="Cambria Math"/>
              </a:rPr>
              <a:t>(s_c − s)ᵐ   </a:t>
            </a:r>
            <a:r>
              <a:rPr sz="1500" b="1">
                <a:solidFill>
                  <a:srgbClr val="212121"/>
                </a:solidFill>
                <a:latin typeface="Calibri"/>
              </a:rPr>
              <a:t>hard ceiling</a:t>
            </a:r>
            <a:r>
              <a:rPr sz="1500" b="0">
                <a:solidFill>
                  <a:srgbClr val="212121"/>
                </a:solidFill>
                <a:latin typeface="Calibri"/>
              </a:rPr>
              <a:t>: density is zero at s = s_c. With m ≈ 2 it vanishes gently, so the largest observed event sits a few percent below s_c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761"/>
                </a:solidFill>
                <a:latin typeface="Cambria Math"/>
              </a:rPr>
              <a:t>s_c(u, τ)   </a:t>
            </a:r>
            <a:r>
              <a:rPr sz="1500" b="1">
                <a:solidFill>
                  <a:srgbClr val="212121"/>
                </a:solidFill>
                <a:latin typeface="Calibri"/>
              </a:rPr>
              <a:t>the only place the state enters</a:t>
            </a:r>
            <a:r>
              <a:rPr sz="1500" b="0">
                <a:solidFill>
                  <a:srgbClr val="212121"/>
                </a:solidFill>
                <a:latin typeface="Calibri"/>
              </a:rPr>
              <a:t>: 146× range over the plane (0.02 cold and unloaded, 3 in flow); ln s_c ≈ (u-part) + (τ-part) at 95.5% of the variance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761"/>
                </a:solidFill>
                <a:latin typeface="Cambria Math"/>
              </a:rPr>
              <a:t>Z   </a:t>
            </a:r>
            <a:r>
              <a:rPr sz="1500" b="0">
                <a:solidFill>
                  <a:srgbClr val="212121"/>
                </a:solidFill>
                <a:latin typeface="Calibri"/>
              </a:rPr>
              <a:t>normalization, computed numerically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091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Versus the literature forms (slide 4)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Truncated power law s⁻ᵏ e^(−s/s*): an exponential tail suppresses large events but never forbids them. It sits inside the search space at complexity 7, never made a Pareto front, and loses every likelihood contest that follows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Budrikis et al. (2017) eq. 1, fitted the same way: behind the TPL in all eight large cells (ΔAIC +130 to +268 vs the ceiling law; TPL +67 to +120)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Where the likelihood margin comes from</a:t>
            </a:r>
          </a:p>
        </p:txBody>
      </p:sp>
      <p:pic>
        <p:nvPicPr>
          <p:cNvPr id="3" name="Picture 2" descr="fig24_ldw_resid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197" y="1143000"/>
            <a:ext cx="9763124" cy="37490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98348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Left: residuals per size bin, largest cell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Measured density divided by each fitted density, with Poisson error bars. The Budrikis form runs 30% low at 3 × 10⁻⁴ and 30% high through 10⁻³ to 10⁻², the bend the exp(C√u) factor puts in; the TPL has the same wave, smaller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4983480"/>
            <a:ext cx="53035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Right: log-likelihood gain of the ceiling law, accumulated over events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Both rivals win below 10⁻³ and lose it back, and more, between 10⁻³ and 10⁻¹, where most events sit. Totals: </a:t>
            </a:r>
            <a:r>
              <a:rPr sz="1300" b="1">
                <a:solidFill>
                  <a:srgbClr val="212121"/>
                </a:solidFill>
                <a:latin typeface="Calibri"/>
              </a:rPr>
              <a:t>+62 over the TPL (ΔAIC +120), +106 over Budrikis (ΔAIC +208)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Performance: every cell, and a control</a:t>
            </a:r>
          </a:p>
        </p:txBody>
      </p:sp>
      <p:pic>
        <p:nvPicPr>
          <p:cNvPr id="3" name="Picture 2" descr="fig02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78" y="1143000"/>
            <a:ext cx="5254283" cy="3794760"/>
          </a:xfrm>
          <a:prstGeom prst="rect">
            <a:avLst/>
          </a:prstGeom>
        </p:spPr>
      </p:pic>
      <p:pic>
        <p:nvPicPr>
          <p:cNvPr id="4" name="Picture 3" descr="fig04_falsifi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690" y="1143000"/>
            <a:ext cx="5254283" cy="3794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Left: the collapse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Twelve cells, 100× apart in scale, plotted against </a:t>
            </a:r>
            <a:r>
              <a:rPr sz="1350" b="1">
                <a:solidFill>
                  <a:srgbClr val="212121"/>
                </a:solidFill>
                <a:latin typeface="Calibri"/>
              </a:rPr>
              <a:t>ξ = (s+ε)/(s_c+ε)</a:t>
            </a:r>
            <a:r>
              <a:rPr sz="1350" b="0">
                <a:solidFill>
                  <a:srgbClr val="212121"/>
                </a:solidFill>
                <a:latin typeface="Calibri"/>
              </a:rPr>
              <a:t> with the global (k, m, ε): one curve, including the bend into the ceiling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5029200"/>
            <a:ext cx="53035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Right: the same machinery on synthetic data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TPL-generated catalogs return a TPL verdict, 5 of 5; ceiling-generated return the ceiling, 5 of 5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Measured cells sit on the ceiling side; in the 8 largest, </a:t>
            </a:r>
            <a:r>
              <a:rPr sz="1350" b="1">
                <a:solidFill>
                  <a:srgbClr val="212121"/>
                </a:solidFill>
                <a:latin typeface="Calibri"/>
              </a:rPr>
              <a:t>AIC 8 of 8</a:t>
            </a:r>
            <a:r>
              <a:rPr sz="1350" b="0">
                <a:solidFill>
                  <a:srgbClr val="212121"/>
                </a:solidFill>
                <a:latin typeface="Calibri"/>
              </a:rPr>
              <a:t> (ΔAIC 67 to 120 over TPL, 300 to 754 over lognormal)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Performance: the plastic-rate field, rebuilt from the law</a:t>
            </a:r>
          </a:p>
        </p:txBody>
      </p:sp>
      <p:pic>
        <p:nvPicPr>
          <p:cNvPr id="3" name="Picture 2" descr="fig09_q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1188720"/>
            <a:ext cx="558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1280160"/>
            <a:ext cx="49834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Measured q against q from the law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Measured: </a:t>
            </a:r>
            <a:r>
              <a:rPr sz="1400" b="1">
                <a:solidFill>
                  <a:srgbClr val="212121"/>
                </a:solidFill>
                <a:latin typeface="Calibri"/>
              </a:rPr>
              <a:t>q = 1 − (dτ/dγ)/2μ</a:t>
            </a:r>
            <a:r>
              <a:rPr sz="1400" b="0">
                <a:solidFill>
                  <a:srgbClr val="212121"/>
                </a:solidFill>
                <a:latin typeface="Calibri"/>
              </a:rPr>
              <a:t> per cell, first pass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From the law: </a:t>
            </a:r>
            <a:r>
              <a:rPr sz="1400" b="1">
                <a:solidFill>
                  <a:srgbClr val="212121"/>
                </a:solidFill>
                <a:latin typeface="Calibri"/>
              </a:rPr>
              <a:t>hazard × mean event size</a:t>
            </a:r>
            <a:r>
              <a:rPr sz="1400" b="0">
                <a:solidFill>
                  <a:srgbClr val="212121"/>
                </a:solidFill>
                <a:latin typeface="Calibri"/>
              </a:rPr>
              <a:t>, the mean taken from the fitted P(s | u, τ)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One dot per cell, two decades of q; band = statistical noise floor of this grid, </a:t>
            </a:r>
            <a:r>
              <a:rPr sz="1400" b="1">
                <a:solidFill>
                  <a:srgbClr val="212121"/>
                </a:solidFill>
                <a:latin typeface="Calibri"/>
              </a:rPr>
              <a:t>17.5%</a:t>
            </a:r>
            <a:r>
              <a:rPr sz="1400" b="0">
                <a:solidFill>
                  <a:srgbClr val="212121"/>
                </a:solidFill>
                <a:latin typeface="Calibri"/>
              </a:rPr>
              <a:t> (split-half ensembles)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Rebuilt field: </a:t>
            </a:r>
            <a:r>
              <a:rPr sz="1400" b="1">
                <a:solidFill>
                  <a:srgbClr val="212121"/>
                </a:solidFill>
                <a:latin typeface="Calibri"/>
              </a:rPr>
              <a:t>median +1.8%, RMS 17%</a:t>
            </a:r>
            <a:r>
              <a:rPr sz="1400" b="0">
                <a:solidFill>
                  <a:srgbClr val="212121"/>
                </a:solidFill>
                <a:latin typeface="Calibri"/>
              </a:rPr>
              <a:t>, within the noise. A better law could not score better here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Same factor structure: both versions factorize at 96%, same SR knee, nearly the same constants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Running the model with the discovered law</a:t>
            </a:r>
          </a:p>
        </p:txBody>
      </p:sp>
      <p:pic>
        <p:nvPicPr>
          <p:cNvPr id="3" name="Picture 2" descr="fig12_sim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02" y="1143000"/>
            <a:ext cx="5400235" cy="3794760"/>
          </a:xfrm>
          <a:prstGeom prst="rect">
            <a:avLst/>
          </a:prstGeom>
        </p:spPr>
      </p:pic>
      <p:pic>
        <p:nvPicPr>
          <p:cNvPr id="4" name="Picture 3" descr="fig14_sim_pea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714" y="1143000"/>
            <a:ext cx="5400235" cy="3794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All 850 runs, forward from their measured initial states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Each step at Δγ = 10⁻⁵: elastic drift at 2μ, an event with probability p(u, τ), size drawn from the law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MD solid, model dashed: elastic rise, </a:t>
            </a:r>
            <a:r>
              <a:rPr sz="1350" b="1">
                <a:solidFill>
                  <a:srgbClr val="212121"/>
                </a:solidFill>
                <a:latin typeface="Calibri"/>
              </a:rPr>
              <a:t>yield overshoot across 256× in cooling rate</a:t>
            </a:r>
            <a:r>
              <a:rPr sz="1350" b="0">
                <a:solidFill>
                  <a:srgbClr val="212121"/>
                </a:solidFill>
                <a:latin typeface="Calibri"/>
              </a:rPr>
              <a:t>, post-yield decay, flow stress (±5%)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5029200"/>
            <a:ext cx="53035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The 850 yield peaks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Ceiling law </a:t>
            </a:r>
            <a:r>
              <a:rPr sz="1350" b="1">
                <a:solidFill>
                  <a:srgbClr val="212121"/>
                </a:solidFill>
                <a:latin typeface="Calibri"/>
              </a:rPr>
              <a:t>RMS 2.5%</a:t>
            </a:r>
            <a:r>
              <a:rPr sz="1350" b="0">
                <a:solidFill>
                  <a:srgbClr val="212121"/>
                </a:solidFill>
                <a:latin typeface="Calibri"/>
              </a:rPr>
              <a:t> (worst rate 4.3%); TPL 1.4%; raw-event resampling 0.9%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Peaks feel only the mean event size, so they do not discriminate size laws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990011"/>
                </a:solidFill>
                <a:latin typeface="Calibri"/>
              </a:rPr>
              <a:t>The energy-convergence problem</a:t>
            </a:r>
          </a:p>
        </p:txBody>
      </p:sp>
      <p:pic>
        <p:nvPicPr>
          <p:cNvPr id="3" name="Picture 2" descr="fig13_sim_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7917"/>
            <a:ext cx="6309360" cy="44336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86600" y="128016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The same comparison for u(γ)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Early: right. Late: the dashed curves </a:t>
            </a:r>
            <a:r>
              <a:rPr sz="1400" b="1">
                <a:solidFill>
                  <a:srgbClr val="212121"/>
                </a:solidFill>
                <a:latin typeface="Calibri"/>
              </a:rPr>
              <a:t>pinch together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Spread of mean u across preparations at γ = 0.5: </a:t>
            </a:r>
            <a:r>
              <a:rPr sz="1400" b="1">
                <a:solidFill>
                  <a:srgbClr val="212121"/>
                </a:solidFill>
                <a:latin typeface="Calibri"/>
              </a:rPr>
              <a:t>24% in the data, 4% in the model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The fields are one map for all histories, so two runs at the same (u, τ) evolve identically however they got there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The data disagree: at the same (u, τ), slow-cooled glass has a </a:t>
            </a:r>
            <a:r>
              <a:rPr sz="1400" b="1">
                <a:solidFill>
                  <a:srgbClr val="212121"/>
                </a:solidFill>
                <a:latin typeface="Calibri"/>
              </a:rPr>
              <a:t>1.71× higher ceiling</a:t>
            </a:r>
            <a:r>
              <a:rPr sz="1400" b="0">
                <a:solidFill>
                  <a:srgbClr val="212121"/>
                </a:solidFill>
                <a:latin typeface="Calibri"/>
              </a:rPr>
              <a:t> than fast-cooled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So (u, τ) is not a sufficient state. Which channel carries the missing information?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fix: a one-parameter preparation memory in the ceiling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1E2761"/>
                </a:solidFill>
                <a:latin typeface="Cambria Math"/>
              </a:rPr>
              <a:t>s_c(u, τ; rate)  =  s_c(u, τ) · (rate / rate_mid)^β ,        β = −0.117 ± 0.005</a:t>
            </a:r>
          </a:p>
        </p:txBody>
      </p:sp>
      <p:pic>
        <p:nvPicPr>
          <p:cNvPr id="4" name="Picture 3" descr="fig17_memory_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51807"/>
            <a:ext cx="6949440" cy="266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35240" y="1737360"/>
            <a:ext cx="406908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Reading the equation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Only the ceiling is scaled per preparation; hazard, drift, aging, energy coupling unchanged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1">
                <a:solidFill>
                  <a:srgbClr val="212121"/>
                </a:solidFill>
                <a:latin typeface="Calibri"/>
              </a:rPr>
              <a:t>β</a:t>
            </a:r>
            <a:r>
              <a:rPr sz="1250" b="0">
                <a:solidFill>
                  <a:srgbClr val="212121"/>
                </a:solidFill>
                <a:latin typeface="Calibri"/>
              </a:rPr>
              <a:t>: slope of ln(mean event size) on ln(cooling rate) at fixed cell, with cell fixed effects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1">
                <a:solidFill>
                  <a:srgbClr val="212121"/>
                </a:solidFill>
                <a:latin typeface="Calibri"/>
              </a:rPr>
              <a:t>rate_mid</a:t>
            </a:r>
            <a:r>
              <a:rPr sz="1250" b="0">
                <a:solidFill>
                  <a:srgbClr val="212121"/>
                </a:solidFill>
                <a:latin typeface="Calibri"/>
              </a:rPr>
              <a:t>: the middle of the nine rates; factors run 1.38 (slowest) to 0.72 (fastest)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Why the ceiling: the hazard has β = −0.012 ± 0.002 and the drift does not move; the memory is in event size, in the 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6177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Result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Spread of mean u at γ = 0.5: </a:t>
            </a:r>
            <a:r>
              <a:rPr sz="1250" b="1">
                <a:solidFill>
                  <a:srgbClr val="212121"/>
                </a:solidFill>
                <a:latin typeface="Calibri"/>
              </a:rPr>
              <a:t>4.1% → 26.5%</a:t>
            </a:r>
            <a:r>
              <a:rPr sz="1250" b="0">
                <a:solidFill>
                  <a:srgbClr val="212121"/>
                </a:solidFill>
                <a:latin typeface="Calibri"/>
              </a:rPr>
              <a:t>, against 24% in the data, tracking the data across the strain window; yield peaks unchanged (RMS 2.5% → 2.8%)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Within a preparation the same relation, exp(κ·δu₀) with κ = β · d ln(rate)/du₀ = −43 and no new parameter, predicts how long a run remembers its initial energy: 0.44 / 0.27 / 0.22 / 0.17 at γ = 0.1 / 0.2 / 0.3 / 0.5 (data 0.63 / 0.27 / 0.24 / 0.18). The memory relaxes with strain, γ_r ≈ 0.2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1737</Words>
  <Application>Microsoft Macintosh PowerPoint</Application>
  <PresentationFormat>Widescreen</PresentationFormat>
  <Paragraphs>123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Thomas Arbaugh</cp:lastModifiedBy>
  <cp:revision>8</cp:revision>
  <dcterms:created xsi:type="dcterms:W3CDTF">2013-01-27T09:14:16Z</dcterms:created>
  <dcterms:modified xsi:type="dcterms:W3CDTF">2026-09-04T17:02:23Z</dcterms:modified>
  <cp:category/>
</cp:coreProperties>
</file>