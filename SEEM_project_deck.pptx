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1E2761"/>
                </a:solidFill>
                <a:latin typeface="Calibri"/>
              </a:rPr>
              <a:t>Constitutive-model discovery for amorphous plasticity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212121"/>
                </a:solidFill>
                <a:latin typeface="Calibri"/>
              </a:rPr>
              <a:t>Dataset, analysis, and an adversarial assessment of STZ-consistency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6E7B85"/>
                </a:solidFill>
                <a:latin typeface="Calibri"/>
              </a:rPr>
              <a:t>SEEM project status — August 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E7B85"/>
                </a:solidFill>
                <a:latin typeface="Calibri"/>
              </a:rPr>
              <a:t>AQS molecular-dynamics shear · 850 trajectories · nine preparations · 42.5M transitions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1E2761"/>
                </a:solidFill>
                <a:latin typeface="Calibri"/>
              </a:rPr>
              <a:t>850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01952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E7B85"/>
                </a:solidFill>
                <a:latin typeface="Calibri"/>
              </a:rPr>
              <a:t>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0" y="11430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1E2761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901952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E7B85"/>
                </a:solidFill>
                <a:latin typeface="Calibri"/>
              </a:rPr>
              <a:t>cooling rates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430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1E2761"/>
                </a:solidFill>
                <a:latin typeface="Calibri"/>
              </a:rPr>
              <a:t>42.5M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01952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E7B85"/>
                </a:solidFill>
                <a:latin typeface="Calibri"/>
              </a:rPr>
              <a:t>transitions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39" y="11430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1E2761"/>
                </a:solidFill>
                <a:latin typeface="Calibri"/>
              </a:rPr>
              <a:t>γ →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39" y="1901952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E7B85"/>
                </a:solidFill>
                <a:latin typeface="Calibri"/>
              </a:rPr>
              <a:t>strain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Protocol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Athermal quasistatic (AQS) shear of a model glass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Δγ = 10⁻⁵; 49,999 steps per trajectory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Cooling rates 2×10¹⁰ → 5.12×10¹² K/s in factor-of-2 steps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100 trajectories per rate (50 at the fastest)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60604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State variables and events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u = pe − u₀  (inherent-structure energy above reference; u₀ dataset-derived)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τ = stress / 10⁴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Event = one-step drop (dτ &lt; 0 or du &lt; 0); 0.69% of steps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Initial u spans 60,000× across preparations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A preparation-resolved AQS dataset: nine cooling rates × ~100 samples — enough statistics to measure constitutive fields, not just fit curves.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Preparation phenomenology</a:t>
            </a:r>
          </a:p>
        </p:txBody>
      </p:sp>
      <p:pic>
        <p:nvPicPr>
          <p:cNvPr id="3" name="Picture 2" descr="ss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77840" cy="3858768"/>
          </a:xfrm>
          <a:prstGeom prst="rect">
            <a:avLst/>
          </a:prstGeom>
        </p:spPr>
      </p:pic>
      <p:pic>
        <p:nvPicPr>
          <p:cNvPr id="4" name="Picture 3" descr="ss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577840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212121"/>
                </a:solidFill>
                <a:latin typeface="Calibri"/>
              </a:rPr>
              <a:t>Peak stress falls monotonically with faster cooling (1.96 → 1.30); overshoot fraction 0.45 → 0.24.  In every strain window u still drifts up and τ drifts down — all “steady-state” quantities are extrapolations.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Textbook effective-temperature behavior — but no preparation reaches steady state by γ = 0.5.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How far from steady state?</a:t>
            </a:r>
          </a:p>
        </p:txBody>
      </p:sp>
      <p:pic>
        <p:nvPicPr>
          <p:cNvPr id="3" name="Picture 2" descr="ext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77840" cy="3858768"/>
          </a:xfrm>
          <a:prstGeom prst="rect">
            <a:avLst/>
          </a:prstGeom>
        </p:spPr>
      </p:pic>
      <p:pic>
        <p:nvPicPr>
          <p:cNvPr id="4" name="Picture 3" descr="ext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577840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Calibri"/>
              </a:rPr>
              <a:t>Fits use the relaxation form effective-temperature theory itself predicts. The slowest-cooled ensemble still has 11.4% of its gap open at γ = 0.5 (γc = 0.32); 95% closure needs total strain ≈ 0.8–1.5.  Extrapolated fixed points retain a 10.2% spread in u∞ and 8.5% in flow stress — slower-than-exponential modes, or genuinely preparation-dependent attractors.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Every steady-state quantity is an extrapolation — and the extrapolated attractors do not converge: a common fixed point is assumed, not demonstrated.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Framework: measure, don’t regress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What fails on this data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Direct sparse regression on (du/dγ, dτ/dγ): R² ≈ 0.0005 — rare large events dominate least squares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Event classification scored by AUC (0.70) — the wrong scoreboard for a hazard process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Event-jump regression: R² ≈ 0.1 — the conditional mean of a heavy 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234440"/>
            <a:ext cx="53035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What works: decompose the process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Elastic modulus 2μ(u,τ) from branch slopes — two independent estimators agree to 2.3%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Plastic-rate field  q(u,τ) = 1 − (dτ/dγ) / 2μ — measured, dimensionless, O(1)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Event hazard and jump kernel treated as separate objects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Noise floors established first: 8.7% statistical (per voxel), 11.3% split-half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well-posed object is the dimensionless plastic-rate field q(u,τ); every later claim is judged against measured noise floors.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measured plastic-rate field</a:t>
            </a:r>
          </a:p>
        </p:txBody>
      </p:sp>
      <p:pic>
        <p:nvPicPr>
          <p:cNvPr id="3" name="Picture 2" descr="ss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5989320" cy="4142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554480"/>
            <a:ext cx="48920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Correct limits: q → 0 in the elastic corner, q → 1 at steady flow, q &gt; 1 where the ensemble softens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Monotone in both u and τ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Factorizes:  q(u,τ) ≈ Λ(u) · f(τ) — a rank-1 model leaves only 3.6–4% of log-q variance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Residual is ~30% multiplicative — systematic, not statistical (slide 10)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q behaves like a constitutive field and separates into an STZ-like product Λ(u)·f(τ) — the two factors become the discovery targets.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Symbolic regression, built for scrutiny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Engine  (library/symreg.py)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Exhaustive enumeration of expression trees to a complexity bound — the exact Pareto front, not a GP sample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Constants fitted inside nonlinearities (variable projection)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Positivity, monotonicity, and limit anchors imposed as hard admissibility filters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Operator-weighted complexity: exp and log cost more than + and 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234440"/>
            <a:ext cx="53035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Guardrails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Validated on synthetic truths: recovers 3·exp(−2/x) and 0.04·exp(x/0.22); returns a straight line when the truth is linear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Fixed-library SINDy (the group’s build_SEEM_library) retained as the baseline arm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Stopping rule: any fit that beats the measured noise floor is memorizing history, not physics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Search the whole grammar, admit only physics-admissible expressions, and never trust a fit that beats the noise floor.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Discovered forms (weighted pipeline)</a:t>
            </a:r>
          </a:p>
        </p:txBody>
      </p:sp>
      <p:pic>
        <p:nvPicPr>
          <p:cNvPr id="3" name="Picture 2" descr="sr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77840" cy="3858768"/>
          </a:xfrm>
          <a:prstGeom prst="rect">
            <a:avLst/>
          </a:prstGeom>
        </p:spPr>
      </p:pic>
      <p:pic>
        <p:nvPicPr>
          <p:cNvPr id="4" name="Picture 3" descr="sr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577840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Λ(û) = 11.6·exp(−1.79/û) + 0.086        f(τ) = 43.6·exp(−4.57/τ) + 0.19        (û = u/χ*,  χ* = 0.0312)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961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6E7B85"/>
                </a:solidFill>
                <a:latin typeface="Calibri"/>
              </a:rPr>
              <a:t>Exhaustive search over 4,578 admissible expressions lands on the activated form at the Pareto knee — it was not told to look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At the Pareto knee both factors take an activated (Boltzmann-like) form — the STZ-consistent result. Conditional on the pipeline: slide 11.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Generalization: held-out preparations</a:t>
            </a:r>
          </a:p>
        </p:txBody>
      </p:sp>
      <p:pic>
        <p:nvPicPr>
          <p:cNvPr id="3" name="Picture 2" descr="sr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5806440" cy="4041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554480"/>
            <a:ext cx="48920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Train on the 7 slowest cooling rates; test on the 2 fastest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Discovered 5-parameter model: 20.0% train / 30.7% test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15-parameter quartic: 5.7% train — below the 8.7% noise floor, i.e. memorization — 32.4% test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log/exp and RBF libraries fail numerically (condition number ~10¹⁷)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Both surviving models sit at the state-insufficiency ceiling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Five interpretable parameters generalize as well as fifteen polynomial ones; training below the noise floor buys memorization, not physics.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990011"/>
                </a:solidFill>
                <a:latin typeface="Calibri"/>
              </a:rPr>
              <a:t>The headline negative result</a:t>
            </a:r>
          </a:p>
        </p:txBody>
      </p:sp>
      <p:pic>
        <p:nvPicPr>
          <p:cNvPr id="3" name="Picture 2" descr="ss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5989320" cy="4142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417320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At identical (u,τ), slowest- vs fastest-cooled ensembles flow at rates differing 1.25–2.04× (median 51%)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Same sign in all 10 well-populated shared voxels; correlation 0.988 — an offset, not scatter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Split-half noise floor 11.3% — the effect is 4.5× the floor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Accumulated plastic strain γₚ absorbs ~⅓ of the gap (51% → 37%, vs a 16% floor)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Remainder unexplained: back-stress and localization are the candidates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(u, τ) is not a sufficient state: no two-variable constitutive law — STZ-form or otherwise — can be exact for this system.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Adversarial battery: does the activated form survive?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3749039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760720"/>
                <a:gridCol w="2651760"/>
                <a:gridCol w="2468880"/>
              </a:tblGrid>
              <a:tr h="41655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Analysis variant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Λ(u) winner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f(τ) winner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</a:tr>
              <a:tr h="41655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Weighted fits (statistical / relative / log-space)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activated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activated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655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Pre-softening voxels only (q &lt; 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activated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activated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655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Fresh-branch modulus estimator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activated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activated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655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Leave-one-out cross-validation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activated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activated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655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Unweighted extraction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power law (3.9× margin)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power + floor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655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300 trajectory bootstraps (unweighted)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power 97%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power-floor 99%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655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u-zero shifted by ±0.003 (10% of χ*)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flips with sign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65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Rise-only (û ≥ 0.3)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indistinguishable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8523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E7B85"/>
                </a:solidFill>
                <a:latin typeface="Calibri"/>
              </a:rPr>
              <a:t>Robust across every variant: growth-exponential and sinh forms always lose. Exhaustive-search knee: exp(−c/x) on weighted targets; cubic/quartic in 12 of 12 unweighted replicates.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winner flips with extraction weighting and the u-zero — activated vs power law is undecidable at current systematics. The family (floor + stiff rise) is decided.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Scrutiny results</a:t>
            </a:r>
          </a:p>
        </p:txBody>
      </p:sp>
      <p:pic>
        <p:nvPicPr>
          <p:cNvPr id="3" name="Picture 2" descr="sc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77840" cy="3858768"/>
          </a:xfrm>
          <a:prstGeom prst="rect">
            <a:avLst/>
          </a:prstGeom>
        </p:spPr>
      </p:pic>
      <p:pic>
        <p:nvPicPr>
          <p:cNvPr id="4" name="Picture 3" descr="sc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577840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212121"/>
                </a:solidFill>
                <a:latin typeface="Calibri"/>
              </a:rPr>
              <a:t>Left: the same measured Λ supports c = 1.79 (activated) or n = 3.3 (power) depending on extraction.  Right: fitted barriers drift with preparation far outside statistical error (±25% of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No preparation-independent formation energy at two variables — the state-insufficiency result, seen through the STZ lens.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Verdict on STZ-consistency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Calibri"/>
              </a:rPr>
              <a:t>SUPPORTED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566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Effective-temperature phenomenology (preparation-ordered overshoot; relaxation toward a shared band)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Factorized structure q = Λ(u)·f(τ)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Activated Λ is one of the two surviving forms — best on the weighted pipeline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If activated: e_Z ≈ 0.056–0.059 per-atom PE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2344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6E7B85"/>
                </a:solidFill>
                <a:latin typeface="Calibri"/>
              </a:rPr>
              <a:t>NOT ESTABLISHED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737360"/>
            <a:ext cx="3566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The Boltzmann form uniquely (degenerate with a power law; u₀ not independently known)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A preparation-independent formation energy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A common steady-state attractor — extrapolated u∞ / τ∞ retain 10% / 8.5% spreads (slide 4)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A canonical STZ stress factor (no evidence for a stress threshold: x₀ → 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344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990011"/>
                </a:solidFill>
                <a:latin typeface="Calibri"/>
              </a:rPr>
              <a:t>CONTRADICTED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566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Sufficiency of any two-variable (χ, s) closure — violated at the 1.7× level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Constant barrier across preparations (±25% drift)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(Back-stress m untested: forward shear only — STZ’s own candidate for the missing variable)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STZ’s structure survives; its strong claims don’t — at two state variables. The failure mode points at STZ’s own missing variable, 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Recommended next steps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325880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10241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212121"/>
                </a:solidFill>
                <a:latin typeface="Calibri"/>
              </a:rPr>
              <a:t>Measure u₀ independently — </a:t>
            </a:r>
            <a:r>
              <a:rPr sz="1500" b="0">
                <a:solidFill>
                  <a:srgbClr val="212121"/>
                </a:solidFill>
                <a:latin typeface="Calibri"/>
              </a:rPr>
              <a:t>reference / inherent-structure energy; this alone breaks the activated-vs-power degeneracy in Λ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194559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48839"/>
            <a:ext cx="10241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212121"/>
                </a:solidFill>
                <a:latin typeface="Calibri"/>
              </a:rPr>
              <a:t>Reverse-loading AQS from saved configurations — </a:t>
            </a:r>
            <a:r>
              <a:rPr sz="1500" b="0">
                <a:solidFill>
                  <a:srgbClr val="212121"/>
                </a:solidFill>
                <a:latin typeface="Calibri"/>
              </a:rPr>
              <a:t>parity test for back-stress (STZ’s m); cheap relative to the original runs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063239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10241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212121"/>
                </a:solidFill>
                <a:latin typeface="Calibri"/>
              </a:rPr>
              <a:t>Reach or bracket steady state — </a:t>
            </a:r>
            <a:r>
              <a:rPr sz="1500" b="0">
                <a:solidFill>
                  <a:srgbClr val="212121"/>
                </a:solidFill>
                <a:latin typeface="Calibri"/>
              </a:rPr>
              <a:t>extend runs to γ ≈ 1.5, or add ensembles prepared above the attractor (ultra-fast quench) — decides common vs preparation-dependent fixed points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931920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86200"/>
            <a:ext cx="10241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212121"/>
                </a:solidFill>
                <a:latin typeface="Calibri"/>
              </a:rPr>
              <a:t>Spatial fields for a subset of trajectories — </a:t>
            </a:r>
            <a:r>
              <a:rPr sz="1500" b="0">
                <a:solidFill>
                  <a:srgbClr val="212121"/>
                </a:solidFill>
                <a:latin typeface="Calibri"/>
              </a:rPr>
              <a:t>localization vs the insufficiency result; local-threshold distribution P(x) directly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800599"/>
            <a:ext cx="475488" cy="47548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79"/>
            <a:ext cx="10241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212121"/>
                </a:solidFill>
                <a:latin typeface="Calibri"/>
              </a:rPr>
              <a:t>Interim model — </a:t>
            </a:r>
            <a:r>
              <a:rPr sz="1500" b="0">
                <a:solidFill>
                  <a:srgbClr val="212121"/>
                </a:solidFill>
                <a:latin typeface="Calibri"/>
              </a:rPr>
              <a:t>factorized activated form with preparation-parameterized coefficients — labeled history-parameterized, not constitutive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5099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E7B85"/>
                </a:solidFill>
                <a:latin typeface="Calibri"/>
              </a:rPr>
              <a:t>Full detail: REPORT.md · code: library/stz.py, library/symreg.py · all fields rebuild from one 6-second pass (trajstats.npz)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 — </a:t>
            </a:r>
            <a:r>
              <a:rPr sz="1350" b="0">
                <a:solidFill>
                  <a:srgbClr val="212121"/>
                </a:solidFill>
                <a:latin typeface="Calibri"/>
              </a:rPr>
              <a:t>Two cheap measurements — u₀ and reverse loading — decide the questions this dataset cannot.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