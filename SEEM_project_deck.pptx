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>
                <a:solidFill>
                  <a:srgbClr val="1E2761"/>
                </a:solidFill>
                <a:latin typeface="Calibri"/>
              </a:rPr>
              <a:t>A fitted law for yield events, and everything rebuilt from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12121"/>
                </a:solidFill>
                <a:latin typeface="Calibri"/>
              </a:rPr>
              <a:t>Symbolic-regression discovery of the event-size distribution in AQS shear, the forward model built on it, and where the model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E7B85"/>
                </a:solidFill>
                <a:latin typeface="Calibri"/>
              </a:rPr>
              <a:t>SEEM project status — September 4, 2026  (third pass; supersedes the August 6 deck)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E7B85"/>
                </a:solidFill>
                <a:latin typeface="Calibri"/>
              </a:rPr>
              <a:t>AQS molecular-dynamics shear · 850 trajectories · nine preparations · 187,468 stress drops · every number regenerated by pipeline/run_all.sh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dataset, and the object of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850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7B85"/>
                </a:solidFill>
                <a:latin typeface="Calibri"/>
              </a:rPr>
              <a:t>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430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9019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7B85"/>
                </a:solidFill>
                <a:latin typeface="Calibri"/>
              </a:rPr>
              <a:t>cooling rates (256×)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187,468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7B85"/>
                </a:solidFill>
                <a:latin typeface="Calibri"/>
              </a:rPr>
              <a:t>stress-drop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39" y="11430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105,188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39" y="19019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7B85"/>
                </a:solidFill>
                <a:latin typeface="Calibri"/>
              </a:rPr>
              <a:t>aging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Protocol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Athermal quasistatic shear of a model glass; Δγ = 10⁻⁵, 49,999 steps per run, γ → 0.5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Cooling rates 2×10¹⁰ → 5.12×10¹² K/s in factor-of-2 steps, ~100 samples each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Per step: strain, stress, potential energy, cooling rate — nothing else is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State and events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u = pe − u₀ (energy above the reference), τ = stress/10⁴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Stress drop: a step with dτ &lt; 0, size s = −dτ;  aging: du &lt; 0 without a drop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22 × 22 grid on (u,τ): inner 20 × 20 on the 0.2–99.8% quantiles plus a catch-all 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target this time is the probability distribution of yield events, P(s | u,τ) — discovered, not assumed — and everything downstream is rebuilt from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Framework: the step process as drift + jumps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Three fields measured directly, per cell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Elastic drift 2μ(u,τ), and the energy drift on quiet steps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Event hazard p(u,τ): fraction of steps that drop (median 0.32% per step)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Energy released per event: du = a + b·s + noise, per cell; an aging channel alongside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34440"/>
            <a:ext cx="5303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One law to discover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The size distribution P(s | u,τ): four decades of s, 187k events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First pass assumed a truncated power law (TPL); this pass asks the data for the form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Everything downstream — mean sizes, the plastic-rate field q, full synthetic stress–strain curves — is then derived from the fitted law and compared with its measured counterpart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Where derived and measured agree, the law carries the physics; where they disagree, we say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Symbolic regression, built for scrutiny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Engine  (library/symreg.py)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Exhaustive enumeration of expression trees: unary exp, log, 1/x, x², √x, −x; binary + − × ÷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Up to two constants fitted inside the nonlinearity (Levenberg–Marquardt, 4 restarts); outer affine profiled out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Numerical fingerprint dedup; hard admissibility (monotone decreasing); exact Pareto fronts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Complexity ≤ 8: 624,936 trees → ~14,000 distinct functions → ~10,300 admissible per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34440"/>
            <a:ext cx="5303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Protocol on the distributions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Target: binned ln ρ(s) per cell, 19 log bins, Poisson errors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12 cells (700–7,600 events) spanning the plane, plus unweighted-bin and wider-window variants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Audit: the largest cell pushed to complexity 9 — 4,505,024 trees, 48,725 admissible — no new form appears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12121"/>
                </a:solidFill>
                <a:latin typeface="Calibri"/>
              </a:rPr>
              <a:t>SR proposes; the likelihood disposes (next slides)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Search the whole grammar, admit only monotone-decreasing densities, and let a per-event likelihood adjudicate among the Pareto knees.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discovered law, in one cell</a:t>
            </a:r>
          </a:p>
        </p:txBody>
      </p:sp>
      <p:pic>
        <p:nvPicPr>
          <p:cNvPr id="3" name="Picture 2" descr="fig01_size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1" y="1234440"/>
            <a:ext cx="6267156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The SR knee in the largest cells is log(1/(s+ε) − C), which rearranges to a bounded-support form: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P(s | u,τ) ∝ (s_c − s)ᵐ / (s + ε)ᵏ  on 0 &lt; s &lt; s_c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k = 0.88: the small-event power law;  ε = 2.8×10⁻⁵: rounds it off below the resolution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s_c(u,τ): a hard ceiling — the largest event the state can produce; the density vanishes like (s_c − s)ᵐ, m ≈ 2.3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The TPL’s exponential tail merely suppresses large events; the ceiling forbids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Four decades of event size in one cell follow one four-parameter law whose only state-dependent parameter is the ceiling s_c.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One shape everywhere; the fronts that found it</a:t>
            </a:r>
          </a:p>
        </p:txBody>
      </p:sp>
      <p:pic>
        <p:nvPicPr>
          <p:cNvPr id="3" name="Picture 2" descr="fig02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1" y="1188720"/>
            <a:ext cx="5444196" cy="3931920"/>
          </a:xfrm>
          <a:prstGeom prst="rect">
            <a:avLst/>
          </a:prstGeom>
        </p:spPr>
      </p:pic>
      <p:pic>
        <p:nvPicPr>
          <p:cNvPr id="4" name="Picture 3" descr="fig03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733" y="1188720"/>
            <a:ext cx="5444196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30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Calibri"/>
              </a:rPr>
              <a:t>Left: twelve cells spanning 100× in scale collapse onto one curve in s/s_c with global (k, m, ε).  Right: per-cell Pareto fronts (heights set by each cell’s own noise floor); orange, the complexity-9 audit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state enters only through the ceiling: the shape is universal across the (u,τ) plane.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SR proposes, the likelihood disposes</a:t>
            </a:r>
          </a:p>
        </p:txBody>
      </p:sp>
      <p:pic>
        <p:nvPicPr>
          <p:cNvPr id="3" name="Picture 2" descr="fig04_fals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1" y="1234440"/>
            <a:ext cx="6267156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Normalized maximum likelihood per cell, seven families, AIC and trajectory-blocked cross-validation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The ceiling law wins 8 of 8 large cells: ΔAIC 67–120 over the TPL, 300–754 over the lognormal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A binned-least-squares favourite (√log form) was an artifact of Poisson weighting: ΔAIC ≈ +20,000 under likelihood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Synthetic control, both directions: TPL-generated catalogs return a TPL verdict 5/5; ceiling-generated return a ceiling verdict 5/5 with ε and s_c recovered to a few %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Sparse cells (&lt; 1,000 events) cannot tell a ceiling from an exponential 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bounded-support law is decided by per-event likelihood with falsifiability controls, not by the binned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ceiling field s_c(u,τ)</a:t>
            </a:r>
          </a:p>
        </p:txBody>
      </p:sp>
      <p:pic>
        <p:nvPicPr>
          <p:cNvPr id="3" name="Picture 2" descr="fig05_ceil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1" y="1188720"/>
            <a:ext cx="5444196" cy="3931920"/>
          </a:xfrm>
          <a:prstGeom prst="rect">
            <a:avLst/>
          </a:prstGeom>
        </p:spPr>
      </p:pic>
      <p:pic>
        <p:nvPicPr>
          <p:cNvPr id="4" name="Picture 3" descr="fig07_ceiling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805" y="1188720"/>
            <a:ext cx="466005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30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Calibri"/>
              </a:rPr>
              <a:t>Left: 277 cells, 146× in range (0.02 cold → 3.0 in the flowing state), bootstrap error 6.5%; rank-1 factorization Λ(u)·f(τ) carries 95.5% of the log-variance.  Right: refit by preparation at fixed cell — slow-cooled glass has a 1.71× higher ceiling than fast-cooled.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All state dependence, and all preparation memory, sit in one parameter — the ceiling.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Rebuilding the plastic-rate field from the law</a:t>
            </a:r>
          </a:p>
        </p:txBody>
      </p:sp>
      <p:pic>
        <p:nvPicPr>
          <p:cNvPr id="3" name="Picture 2" descr="fig09_q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9" y="1234440"/>
            <a:ext cx="55321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q = 1 − ⟨dτ⟩ / (2μ Δγ), measured per cell in the first pass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From the law: hazard × mean event size of the fitted distribution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Agreement: median +1.8%, RMS 17% against a 17.5% split-half noise floor — the test is saturated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The Λ(u)·f(τ) factors of the rebuilt field are the measured ones: f(τ) ∝ τ·log(1/τ − 0.44) vs 0.43; the Λ pole at u = 0.0287 vs 0.0280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Old κ ≈ 0.95 recovered as the mid-range slope; the x_min drift problem is gone with 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fitted law reproduces the first pass’s central object to within its noise floor.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acid test: simulating all 850 runs</a:t>
            </a:r>
          </a:p>
        </p:txBody>
      </p:sp>
      <p:pic>
        <p:nvPicPr>
          <p:cNvPr id="3" name="Picture 2" descr="fig12_sim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7025"/>
            <a:ext cx="5486400" cy="3855308"/>
          </a:xfrm>
          <a:prstGeom prst="rect">
            <a:avLst/>
          </a:prstGeom>
        </p:spPr>
      </p:pic>
      <p:pic>
        <p:nvPicPr>
          <p:cNvPr id="4" name="Picture 3" descr="fig14_sim_pea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27025"/>
            <a:ext cx="5486400" cy="38553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30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Calibri"/>
              </a:rPr>
              <a:t>Three arms differ only in the size law: ceiling law, TPL, empirical resampling.  Stress–strain curves, yield overshoot across 256× in cooling rate, and flow stress (±5%) all emerge; yield-peak RMS 2.5% (ceiling), 1.4% (TPL), 0.9% (empirical).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model predicts the yield strength of a glass from its preparation to a few percent — and macroscopic curves cannot tell size laws apart; the per-event likelihood 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990011"/>
                </a:solidFill>
                <a:latin typeface="Calibri"/>
              </a:rPr>
              <a:t>The failure mode</a:t>
            </a:r>
          </a:p>
        </p:txBody>
      </p:sp>
      <p:pic>
        <p:nvPicPr>
          <p:cNvPr id="3" name="Picture 2" descr="fig13_sim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777"/>
            <a:ext cx="6309360" cy="4433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The energy coordinate: good early, too convergent late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Preparations keep a 24% spread in mean u at γ = 0.5; the simulation keeps 4%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The fields are preparation-blind by construction (one map for all histories) — so this is the missing state variable of the first pass, seen macroscopically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Same message as the 1.71× ceiling memory: (u,τ) is not a sufficient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A five-times-too-small preparation spread: the one place the two-variable model fails, and the question the rest of the deck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Where the preparation memory lives</a:t>
            </a:r>
          </a:p>
        </p:txBody>
      </p:sp>
      <p:pic>
        <p:nvPicPr>
          <p:cNvPr id="3" name="Picture 2" descr="fig16_memory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6096"/>
            <a:ext cx="6309360" cy="4482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Every channel re-measured per cooling rate at fixed cell; slope β on ln(rate) with cell fixed effects; a parity-split control gives the null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Event hazard: preparation-blind (β = −0.012 ± 0.002; ratio 1.005, control 1.02). Elastic drift: identical.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Mean event size: 1.70× (β = −0.117 ± 0.005) — the ceiling memory, measured another way; it lives in the tail (geometric mean moves only 1.20×)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A slow-cooled glass is triggered as often; its avalanches run further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73% of the per-event energy-release memory is size; 27% a secondary memory in the 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Memory acts through event size, not event rate — against the simplest one-variable STZ reading, where preparation enters through the STZ density.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A one-parameter memory in the ceiling repairs the failure</a:t>
            </a:r>
          </a:p>
        </p:txBody>
      </p:sp>
      <p:pic>
        <p:nvPicPr>
          <p:cNvPr id="3" name="Picture 2" descr="fig17_memory_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22" y="1188719"/>
            <a:ext cx="9286875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64608"/>
            <a:ext cx="1097280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Single change: s_c(u,τ; rate) = s_c(u,τ)·(rate/rate_mid)^β with the one global β = −0.117; hazard, drift, aging untouched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Spread of mean u at γ = 0.5: 4.1% → 26.5% against 24% in the data; the curve tracks the data over the whole strain window; yield peaks unchanged (2.5% → 2.8%)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Refinements overshoot (β by u-band: 37%; per-preparation coupling: 35%); the simple statement is the defensible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To the resolution of this dataset, the missing state variable is a single multiplicative factor on the ceiling.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memory relaxes with strain</a:t>
            </a:r>
          </a:p>
        </p:txBody>
      </p:sp>
      <p:pic>
        <p:nvPicPr>
          <p:cNvPr id="3" name="Picture 2" descr="fig19_memory_rel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22" y="1188719"/>
            <a:ext cx="9286875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64608"/>
            <a:ext cx="1097280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Nine-rate regression with a fixed effect per (cell, strain window): β = −0.21 → −0.11 → −0.05 → −0.04 from γ ≈ 0.15 to 0.45, and it falls within fixed u bands — relaxation, not state dependence; γ_r ≈ 0.18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Late strain: size memory 1.75× → 1.16×, hazard blind throughout; the energy-step memory only halves, a third of it in the coupling at fixed size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Whether that coupling memory also relaxes needs runs past γ = 0.5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third variable is not a frozen label: plastic strain erases it on a scale of a few tenths — now measured, not assumed.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slow variable, one trajectory at a time</a:t>
            </a:r>
          </a:p>
        </p:txBody>
      </p:sp>
      <p:pic>
        <p:nvPicPr>
          <p:cNvPr id="3" name="Picture 2" descr="fig22_per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66039"/>
            <a:ext cx="6309360" cy="42630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Parameter-free prediction: apply the between-preparation relation within a preparation — each trajectory gets exp(κ·δu₀) with κ = β·d ln(rate)/du₀ = −43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Predicted persistence of a sample’s initial energy deviation: 0.44 / 0.27 / 0.22 / 0.17 at γ = 0.1 / 0.2 / 0.3 / 0.5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Data: 0.63 / 0.27 / 0.24 / 0.18.  Base model: 0.41 / 0.08 / 0.07 / 0.08.  Tripling κ overshoots.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rgbClr val="212121"/>
                </a:solidFill>
                <a:latin typeface="Calibri"/>
              </a:rPr>
              <a:t>Same variable, same strength, acting on individual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A sample remembers its initial energy exactly as long as the preparation-level ceiling memory says it should.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Is the ceiling just the largest event?</a:t>
            </a:r>
          </a:p>
        </p:txBody>
      </p:sp>
      <p:pic>
        <p:nvPicPr>
          <p:cNvPr id="3" name="Picture 2" descr="fig18_ceiling_pi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234440"/>
            <a:ext cx="586740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5056631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Refit with the top 1, 5, or 1% of events removed: s_c tracks the new maximum almost one-for-one (red)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So does a true ceiling with m ≈ 2 at n ≈ 5,000 (green synthetics: c/s_max 1.02–1.12)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A true TPL under the same fit runs off to 3–350× the maximum and collapses on refit (blue)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Merging consecutive drop steps into single avalanches (187k → 172k): the ceiling law wins by more (ΔAIC 117–213), s_c moves &lt; 2%, k shifts +0.05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212121"/>
                </a:solidFill>
                <a:latin typeface="Calibri"/>
              </a:rPr>
              <a:t>s_c in a cell is set by its ~10 largest events: the 6.5% bootstrap error is a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data sit on the true-ceiling line, not the exponential cloud, and the law survives the event definition.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Where the Markov assumption fails: aftershocks</a:t>
            </a:r>
          </a:p>
        </p:txBody>
      </p:sp>
      <p:pic>
        <p:nvPicPr>
          <p:cNvPr id="3" name="Picture 2" descr="fig20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22" y="1188719"/>
            <a:ext cx="9286875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64608"/>
            <a:ext cx="1097280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At the same cell, the hazard on the step after an event is 20× the quiet baseline, decaying over ~5 steps; 14% of events sit in consecutive runs (Markov expectation 0.4%); the next event is 1.2× larger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Event counts per window are over-dispersed (Fano 1.3–1.6 vs the model’s 1.0) while the stress released per window is less variable (CV 0.10 vs 0.13)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Referenced to the last large event, the large-event hazard is 1.5× higher after 0.1–0.3 of reloading; large events are more regular (Fano 0.51 vs 0.71)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No function of (u,τ) produces this; an aftershock term fixes the yield peaks (RMS 2.5% → 1.6%) but not the variance below.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The variance gap: ten exclusions, one open problem</a:t>
            </a:r>
          </a:p>
        </p:txBody>
      </p:sp>
      <p:pic>
        <p:nvPicPr>
          <p:cNvPr id="3" name="Picture 2" descr="fig21_rene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92560"/>
            <a:ext cx="6766560" cy="25983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2360" y="1188720"/>
            <a:ext cx="4251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Run-to-run scatter within a preparation: model 25–30% too high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00" b="0">
                <a:solidFill>
                  <a:srgbClr val="212121"/>
                </a:solidFill>
                <a:latin typeface="Calibri"/>
              </a:rPr>
              <a:t>Not the size law, aftershock hazard, grid (42×42), renewal hazard, two-class reload hazard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00" b="0">
                <a:solidFill>
                  <a:srgbClr val="212121"/>
                </a:solidFill>
                <a:latin typeface="Calibri"/>
              </a:rPr>
              <a:t>Not size–reload coupling (+0.02), size–size coupling (−0.01), relaxation rate (identical), the per-sample slow variable, or the u-channel noise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Each candidate was run forward and scored on the same three metrics (count Fano factor, CV of stress released per window, τ scatter)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What survives: a driving-noise amplitude 17% too large with the same restoring force, at fixed (u,τ), that no sequence correlation the data can exhibit accounts for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Closing it needs a per-step observable that is not (u,τ) — the same MD output the third variable asks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remaining discrepancy is bounded and named; the dataset has exhausted what it can test at fixed (u,τ).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What holds, what doesn’t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566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One universal size shape with a single state-dependent scale (12 cells, 100× in scale)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A hard ceiling, sharper than exponential (8/8 by AIC; synthetic controls both ways; robust to merged avalanches)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Small-size exponent k ≈ 0.9; the ceiling field factorizes (95.5%)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Stress–strain curves and yield peaks across 256× in cooling rate at the few-% level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Memory in event size only; relaxes with γ_r ≈ 0.2; parameter-free per-sample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234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6E7B85"/>
                </a:solidFill>
                <a:latin typeface="Calibri"/>
              </a:rPr>
              <a:t>NOT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737360"/>
            <a:ext cx="3566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Ceiling exponent m ≈ 2: order of magnitude only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Specific SR forms of the ceiling factors: best-of-front, not unique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Ceiling vs exponential in cells with &lt; 1,000 events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Convergence of preparations at large strain — the model’s opinion, now with a measured rate but no data past γ = 0.5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The system size N (unrecorded): the finite-size reading of the ceiling is untested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34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990011"/>
                </a:solidFill>
                <a:latin typeface="Calibri"/>
              </a:rPr>
              <a:t>CONTRADICTED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566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(u,τ) as a sufficient state — the 1.71× ceiling memory and the 5×-underpredicted u-spread, independently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The step process as Markov in (u,τ) at the 10⁻⁵ strain scale — aftershocks (×20), reload-dependent large events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Any of ten candidate explanations for the run-to-run variance excess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250" b="0">
                <a:solidFill>
                  <a:srgbClr val="212121"/>
                </a:solidFill>
                <a:latin typeface="Calibri"/>
              </a:rPr>
              <a:t>Preparation acting through the event rate (the simplest STZ-density reading)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The law and the model built on it hold at the few-percent level; their failures are located, quantified, and point at one slow variable and one non-Markov structure.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Recommended 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A per-step structural observable from the MD</a:t>
            </a:r>
          </a:p>
          <a:p>
            <a:r>
              <a:rPr sz="1300" b="0">
                <a:solidFill>
                  <a:srgbClr val="212121"/>
                </a:solidFill>
                <a:latin typeface="Calibri"/>
              </a:rPr>
              <a:t>written alongside pe (local order, soft modes): the one test is whether it absorbs the ceiling’s β = −0.117 while leaving the hazard’s β at zero; it is also the last lever on the variance gap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Runs past γ = 0.5</a:t>
            </a:r>
          </a:p>
          <a:p>
            <a:r>
              <a:rPr sz="1300" b="0">
                <a:solidFill>
                  <a:srgbClr val="212121"/>
                </a:solidFill>
                <a:latin typeface="Calibri"/>
              </a:rPr>
              <a:t>one preparation to γ ≈ 2 settles whether the coupling memory relaxes like the ceiling memory, and whether preparations converge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System size N, ideally two sizes</a:t>
            </a:r>
          </a:p>
          <a:p>
            <a:r>
              <a:rPr sz="1300" b="0">
                <a:solidFill>
                  <a:srgbClr val="212121"/>
                </a:solidFill>
                <a:latin typeface="Calibri"/>
              </a:rPr>
              <a:t>the finite-size reading of the ceiling s_c stands or falls with it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2335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Reverse loading</a:t>
            </a:r>
          </a:p>
          <a:p>
            <a:r>
              <a:rPr sz="1300" b="0">
                <a:solidFill>
                  <a:srgbClr val="212121"/>
                </a:solidFill>
                <a:latin typeface="Calibri"/>
              </a:rPr>
              <a:t>unchanged from the first pass — parity test for a back-stress variable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93775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9204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Interim model</a:t>
            </a:r>
          </a:p>
          <a:p>
            <a:r>
              <a:rPr sz="1300" b="0">
                <a:solidFill>
                  <a:srgbClr val="212121"/>
                </a:solidFill>
                <a:latin typeface="Calibri"/>
              </a:rPr>
              <a:t>the ceiling law with the one-parameter preparation memory and the aftershock hazard — the yield strength of a glass from its preparation history, to a few percent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Takeaway — </a:t>
            </a:r>
            <a:r>
              <a:rPr sz="1350" b="0">
                <a:solidFill>
                  <a:srgbClr val="212121"/>
                </a:solidFill>
                <a:latin typeface="Calibri"/>
              </a:rPr>
              <a:t>Everything here is regenerated from the raw data by pipeline/run_all.sh (43 min); Figures 1–22 and the README carry the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