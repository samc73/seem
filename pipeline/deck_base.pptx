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68" r:id="rId4"/>
    <p:sldId id="269" r:id="rId5"/>
    <p:sldId id="257" r:id="rId6"/>
    <p:sldId id="258" r:id="rId7"/>
    <p:sldId id="259" r:id="rId8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7"/>
  </p:normalViewPr>
  <p:slideViewPr>
    <p:cSldViewPr snapToGrid="0" snapToObjects="1">
      <p:cViewPr>
        <p:scale>
          <a:sx n="110" d="100"/>
          <a:sy n="110" d="100"/>
        </p:scale>
        <p:origin x="82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56A4C-1FD7-434B-80AC-C9E232A2F4A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96F5B-8A98-3E49-846B-DE69B935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0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96F5B-8A98-3E49-846B-DE69B93561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968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737360"/>
            <a:ext cx="1051560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Calibri"/>
              </a:rPr>
              <a:t>SEEM – Symbolic Regression </a:t>
            </a:r>
          </a:p>
          <a:p>
            <a:r>
              <a:rPr lang="en-US" sz="4000" b="1" dirty="0">
                <a:solidFill>
                  <a:srgbClr val="1E2761"/>
                </a:solidFill>
                <a:latin typeface="Calibri"/>
              </a:rPr>
              <a:t>for Constitutive Law Discovery</a:t>
            </a:r>
            <a:endParaRPr sz="40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500" b="0" dirty="0">
                <a:solidFill>
                  <a:srgbClr val="6E7B85"/>
                </a:solidFill>
                <a:latin typeface="Calibri"/>
              </a:rPr>
              <a:t>SEEM/LYS Meeting - </a:t>
            </a:r>
            <a:r>
              <a:rPr sz="1500" b="0" dirty="0">
                <a:solidFill>
                  <a:srgbClr val="6E7B85"/>
                </a:solidFill>
                <a:latin typeface="Calibri"/>
              </a:rPr>
              <a:t>September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CF36E-3DEB-EA88-2966-222F8DC4C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823" y="1615600"/>
            <a:ext cx="8486353" cy="362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2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DF928-620E-5150-16B6-DAF177D12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21" y="603885"/>
            <a:ext cx="10694158" cy="56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1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1ED3E02-89F8-CBE8-0616-E295031E4CB3}"/>
              </a:ext>
            </a:extLst>
          </p:cNvPr>
          <p:cNvGrpSpPr/>
          <p:nvPr/>
        </p:nvGrpSpPr>
        <p:grpSpPr>
          <a:xfrm>
            <a:off x="0" y="0"/>
            <a:ext cx="6785610" cy="914624"/>
            <a:chOff x="2091690" y="2312670"/>
            <a:chExt cx="6785610" cy="91462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B4D5B55-F1EF-1E32-59E7-8879AB6F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" b="8369"/>
            <a:stretch>
              <a:fillRect/>
            </a:stretch>
          </p:blipFill>
          <p:spPr>
            <a:xfrm>
              <a:off x="2628900" y="2715260"/>
              <a:ext cx="6248400" cy="51203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B278F5B-D3BF-CD2A-4AB6-6A4CB9505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1690" y="2312670"/>
              <a:ext cx="3048000" cy="64770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7C8B0C8-CB97-3B61-B118-AAFB741DAEB0}"/>
              </a:ext>
            </a:extLst>
          </p:cNvPr>
          <p:cNvSpPr txBox="1"/>
          <p:nvPr/>
        </p:nvSpPr>
        <p:spPr>
          <a:xfrm>
            <a:off x="5503209" y="1132548"/>
            <a:ext cx="2196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Truncated power law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661309-06C9-CDCD-7642-2067366BA790}"/>
              </a:ext>
            </a:extLst>
          </p:cNvPr>
          <p:cNvCxnSpPr/>
          <p:nvPr/>
        </p:nvCxnSpPr>
        <p:spPr>
          <a:xfrm flipH="1" flipV="1">
            <a:off x="4931709" y="1023586"/>
            <a:ext cx="571500" cy="217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661651-B1C7-34B4-2245-7E76A8DED53C}"/>
              </a:ext>
            </a:extLst>
          </p:cNvPr>
          <p:cNvCxnSpPr/>
          <p:nvPr/>
        </p:nvCxnSpPr>
        <p:spPr>
          <a:xfrm>
            <a:off x="3491529" y="951012"/>
            <a:ext cx="22745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58133CD-C581-EAAD-2C79-B487D2B9B9D9}"/>
              </a:ext>
            </a:extLst>
          </p:cNvPr>
          <p:cNvSpPr txBox="1"/>
          <p:nvPr/>
        </p:nvSpPr>
        <p:spPr>
          <a:xfrm>
            <a:off x="3736658" y="157547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“we find that a simple exponential tail does not fit our data.”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1F8297E-6DE9-015C-5677-EEFEACE21229}"/>
              </a:ext>
            </a:extLst>
          </p:cNvPr>
          <p:cNvGrpSpPr/>
          <p:nvPr/>
        </p:nvGrpSpPr>
        <p:grpSpPr>
          <a:xfrm>
            <a:off x="3491529" y="2018410"/>
            <a:ext cx="5975032" cy="4840168"/>
            <a:chOff x="3736658" y="2006151"/>
            <a:chExt cx="5975032" cy="484016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68981AE-42DC-5848-D612-D1B4CCEF9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69" b="1"/>
            <a:stretch>
              <a:fillRect/>
            </a:stretch>
          </p:blipFill>
          <p:spPr>
            <a:xfrm>
              <a:off x="3859530" y="2327632"/>
              <a:ext cx="5852160" cy="451868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2C66DA-6313-68C6-8DCC-986ABD024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36658" y="2006151"/>
              <a:ext cx="647700" cy="520700"/>
            </a:xfrm>
            <a:prstGeom prst="rect">
              <a:avLst/>
            </a:prstGeom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21D286-4AB7-B23B-A0B1-405099AE2D74}"/>
              </a:ext>
            </a:extLst>
          </p:cNvPr>
          <p:cNvCxnSpPr>
            <a:cxnSpLocks/>
          </p:cNvCxnSpPr>
          <p:nvPr/>
        </p:nvCxnSpPr>
        <p:spPr>
          <a:xfrm>
            <a:off x="8381999" y="2539110"/>
            <a:ext cx="10429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90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91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3000" b="1" dirty="0">
                <a:solidFill>
                  <a:srgbClr val="1E2761"/>
                </a:solidFill>
                <a:latin typeface="Calibri"/>
              </a:rPr>
              <a:t>Variables</a:t>
            </a:r>
            <a:endParaRPr sz="30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94960" cy="21826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 b="0" dirty="0" err="1">
                <a:solidFill>
                  <a:srgbClr val="1E2761"/>
                </a:solidFill>
                <a:latin typeface="Cambria Math"/>
              </a:rPr>
              <a:t>γ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  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applied shear strain; one step is 10⁻⁵, runs go to 0.5</a:t>
            </a:r>
          </a:p>
          <a:p>
            <a:pPr>
              <a:spcAft>
                <a:spcPts val="1100"/>
              </a:spcAft>
            </a:pPr>
            <a:r>
              <a:rPr sz="1600" b="0" dirty="0" err="1">
                <a:solidFill>
                  <a:srgbClr val="1E2761"/>
                </a:solidFill>
                <a:latin typeface="Cambria Math"/>
              </a:rPr>
              <a:t>τ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  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shear stress (raw stress ÷ 10⁴)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u = pe − u₀  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PE/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atom above the reference u₀ = −4.60752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(u, </a:t>
            </a:r>
            <a:r>
              <a:rPr sz="1600" b="0" dirty="0" err="1">
                <a:solidFill>
                  <a:srgbClr val="1E2761"/>
                </a:solidFill>
                <a:latin typeface="Cambria Math"/>
              </a:rPr>
              <a:t>τ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)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two-coordinate state of a run; 20 × 20 grid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2μ(u, </a:t>
            </a:r>
            <a:r>
              <a:rPr sz="1600" b="0" dirty="0" err="1">
                <a:solidFill>
                  <a:srgbClr val="1E2761"/>
                </a:solidFill>
                <a:latin typeface="Cambria Math"/>
              </a:rPr>
              <a:t>τ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)  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elastic modulus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s = −</a:t>
            </a:r>
            <a:r>
              <a:rPr sz="1600" b="0" dirty="0" err="1">
                <a:solidFill>
                  <a:srgbClr val="1E2761"/>
                </a:solidFill>
                <a:latin typeface="Cambria Math"/>
              </a:rPr>
              <a:t>Δτ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 </a:t>
            </a:r>
            <a:r>
              <a:rPr lang="en-US" sz="1600" b="0" dirty="0">
                <a:solidFill>
                  <a:srgbClr val="1E2761"/>
                </a:solidFill>
                <a:latin typeface="Cambria Math"/>
              </a:rPr>
              <a:t> 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an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event: a step where the stress drops, of size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234440"/>
            <a:ext cx="5303520" cy="3172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lang="el-GR" sz="1600" dirty="0">
                <a:solidFill>
                  <a:srgbClr val="1E2761"/>
                </a:solidFill>
                <a:latin typeface="Cambria Math"/>
              </a:rPr>
              <a:t>ρ(</a:t>
            </a:r>
            <a:r>
              <a:rPr lang="en-US" sz="1600" dirty="0">
                <a:solidFill>
                  <a:srgbClr val="1E2761"/>
                </a:solidFill>
                <a:latin typeface="Cambria Math"/>
              </a:rPr>
              <a:t>s) </a:t>
            </a:r>
            <a:r>
              <a:rPr lang="en-US" sz="1600" b="1" dirty="0">
                <a:solidFill>
                  <a:srgbClr val="212121"/>
                </a:solidFill>
              </a:rPr>
              <a:t>density of events </a:t>
            </a:r>
            <a:r>
              <a:rPr lang="en-US" sz="1600" dirty="0">
                <a:solidFill>
                  <a:srgbClr val="212121"/>
                </a:solidFill>
              </a:rPr>
              <a:t>of size s</a:t>
            </a:r>
            <a:endParaRPr lang="en-US" sz="1600" b="0" dirty="0">
              <a:solidFill>
                <a:srgbClr val="1E2761"/>
              </a:solidFill>
              <a:latin typeface="Cambria Math"/>
            </a:endParaRP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p(u, </a:t>
            </a:r>
            <a:r>
              <a:rPr sz="1600" b="0" dirty="0" err="1">
                <a:solidFill>
                  <a:srgbClr val="1E2761"/>
                </a:solidFill>
                <a:latin typeface="Cambria Math"/>
              </a:rPr>
              <a:t>τ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) </a:t>
            </a:r>
            <a:r>
              <a:rPr sz="1500" b="1" dirty="0">
                <a:solidFill>
                  <a:srgbClr val="212121"/>
                </a:solidFill>
                <a:latin typeface="Calibri"/>
              </a:rPr>
              <a:t>probability per step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that an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event occurs</a:t>
            </a:r>
            <a:endParaRPr sz="1500" b="0" dirty="0">
              <a:solidFill>
                <a:srgbClr val="212121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P(s | u, </a:t>
            </a:r>
            <a:r>
              <a:rPr sz="1600" b="0" dirty="0" err="1">
                <a:solidFill>
                  <a:srgbClr val="1E2761"/>
                </a:solidFill>
                <a:latin typeface="Cambria Math"/>
              </a:rPr>
              <a:t>τ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) </a:t>
            </a:r>
            <a:r>
              <a:rPr sz="1500" b="1" dirty="0">
                <a:solidFill>
                  <a:srgbClr val="212121"/>
                </a:solidFill>
                <a:latin typeface="Calibri"/>
              </a:rPr>
              <a:t>size distribution of events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at a given state</a:t>
            </a:r>
          </a:p>
          <a:p>
            <a:pPr>
              <a:spcAft>
                <a:spcPts val="1100"/>
              </a:spcAft>
            </a:pPr>
            <a:r>
              <a:rPr sz="1600" b="0" dirty="0" err="1">
                <a:solidFill>
                  <a:srgbClr val="1E2761"/>
                </a:solidFill>
                <a:latin typeface="Cambria Math"/>
              </a:rPr>
              <a:t>s_c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(u, </a:t>
            </a:r>
            <a:r>
              <a:rPr sz="1600" b="0" dirty="0" err="1">
                <a:solidFill>
                  <a:srgbClr val="1E2761"/>
                </a:solidFill>
                <a:latin typeface="Cambria Math"/>
              </a:rPr>
              <a:t>τ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) </a:t>
            </a:r>
            <a:r>
              <a:rPr sz="1500" b="1" dirty="0">
                <a:solidFill>
                  <a:srgbClr val="212121"/>
                </a:solidFill>
                <a:latin typeface="Calibri"/>
              </a:rPr>
              <a:t>the largest event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a state can produce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k, m, </a:t>
            </a:r>
            <a:r>
              <a:rPr sz="1600" b="0" dirty="0" err="1">
                <a:solidFill>
                  <a:srgbClr val="1E2761"/>
                </a:solidFill>
                <a:latin typeface="Cambria Math"/>
              </a:rPr>
              <a:t>ε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   </a:t>
            </a:r>
            <a:r>
              <a:rPr sz="1500" b="1" dirty="0">
                <a:solidFill>
                  <a:srgbClr val="212121"/>
                </a:solidFill>
                <a:latin typeface="Calibri"/>
              </a:rPr>
              <a:t>constants </a:t>
            </a:r>
            <a:endParaRPr lang="en-US" sz="1500" b="1" dirty="0">
              <a:solidFill>
                <a:srgbClr val="212121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q(u, </a:t>
            </a:r>
            <a:r>
              <a:rPr sz="1600" b="0" dirty="0" err="1">
                <a:solidFill>
                  <a:srgbClr val="1E2761"/>
                </a:solidFill>
                <a:latin typeface="Cambria Math"/>
              </a:rPr>
              <a:t>τ</a:t>
            </a:r>
            <a:r>
              <a:rPr sz="1600" b="0" dirty="0">
                <a:solidFill>
                  <a:srgbClr val="1E2761"/>
                </a:solidFill>
                <a:latin typeface="Cambria Math"/>
              </a:rPr>
              <a:t>)  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plastic fraction of the strain rate</a:t>
            </a:r>
            <a:r>
              <a:rPr lang="en-US" sz="1500" dirty="0">
                <a:solidFill>
                  <a:srgbClr val="212121"/>
                </a:solidFill>
                <a:latin typeface="Calibri"/>
              </a:rPr>
              <a:t>: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0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-&gt;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elastic, 1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-&gt;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steady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state</a:t>
            </a:r>
          </a:p>
          <a:p>
            <a:pPr>
              <a:spcAft>
                <a:spcPts val="1100"/>
              </a:spcAft>
            </a:pPr>
            <a:r>
              <a:rPr lang="en-US" sz="1500" dirty="0">
                <a:solidFill>
                  <a:srgbClr val="212121"/>
                </a:solidFill>
                <a:latin typeface="Calibri"/>
              </a:rPr>
              <a:t>	eq.-&gt; </a:t>
            </a:r>
            <a:r>
              <a:rPr lang="en-US" sz="1500" dirty="0">
                <a:solidFill>
                  <a:srgbClr val="212121"/>
                </a:solidFill>
              </a:rPr>
              <a:t>q = 1 − (d</a:t>
            </a:r>
            <a:r>
              <a:rPr lang="el-GR" sz="1500" dirty="0">
                <a:solidFill>
                  <a:srgbClr val="212121"/>
                </a:solidFill>
              </a:rPr>
              <a:t>τ/</a:t>
            </a:r>
            <a:r>
              <a:rPr lang="en-US" sz="1500" dirty="0">
                <a:solidFill>
                  <a:srgbClr val="212121"/>
                </a:solidFill>
              </a:rPr>
              <a:t>d</a:t>
            </a:r>
            <a:r>
              <a:rPr lang="el-GR" sz="1500" dirty="0">
                <a:solidFill>
                  <a:srgbClr val="212121"/>
                </a:solidFill>
              </a:rPr>
              <a:t>γ)/2μ</a:t>
            </a:r>
            <a:endParaRPr sz="1500" b="0" dirty="0">
              <a:solidFill>
                <a:srgbClr val="212121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1E2761"/>
                </a:solidFill>
                <a:latin typeface="Cambria Math"/>
              </a:rPr>
              <a:t>aging event  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a step where u drops but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τ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does not (105,188); it relaxes energy without releasing stress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Calibri"/>
              </a:rPr>
              <a:t>The symbolic-regression library  (library/</a:t>
            </a:r>
            <a:r>
              <a:rPr sz="3000" b="1" dirty="0" err="1">
                <a:solidFill>
                  <a:srgbClr val="1E2761"/>
                </a:solidFill>
                <a:latin typeface="Calibri"/>
              </a:rPr>
              <a:t>symreg.py</a:t>
            </a:r>
            <a:r>
              <a:rPr sz="3000" b="1" dirty="0">
                <a:solidFill>
                  <a:srgbClr val="1E2761"/>
                </a:solidFill>
                <a:latin typeface="Calibri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00232" cy="1554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1E2761"/>
                </a:solidFill>
                <a:latin typeface="Calibri"/>
              </a:rPr>
              <a:t>What it does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Given points (x, y), it searches for a formula y =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a·f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(x) + b </a:t>
            </a:r>
            <a:endParaRPr lang="en-US" sz="1500" b="0" dirty="0">
              <a:solidFill>
                <a:srgbClr val="212121"/>
              </a:solidFill>
              <a:latin typeface="Calibri"/>
            </a:endParaRPr>
          </a:p>
          <a:p>
            <a:pPr marL="228600" indent="-228600">
              <a:spcAft>
                <a:spcPts val="800"/>
              </a:spcAft>
              <a:buChar char="•"/>
            </a:pPr>
            <a:r>
              <a:rPr lang="en-US" sz="1500" b="0" dirty="0">
                <a:solidFill>
                  <a:srgbClr val="212121"/>
                </a:solidFill>
                <a:latin typeface="Calibri"/>
              </a:rPr>
              <a:t>Uses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a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library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of operators (exp, log, 1/x, x², √x, and + − × ÷) with up to two fitted constants inside f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lang="en-US" sz="1500" b="0" dirty="0">
                <a:solidFill>
                  <a:srgbClr val="212121"/>
                </a:solidFill>
                <a:latin typeface="Calibri"/>
              </a:rPr>
              <a:t>E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numerates every formula up to a complexity budget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lang="en-US" sz="1500" b="0" dirty="0">
                <a:solidFill>
                  <a:srgbClr val="212121"/>
                </a:solidFill>
                <a:latin typeface="Calibri"/>
              </a:rPr>
              <a:t>R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eturns the exact Pareto front: the best misfit at each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86100"/>
            <a:ext cx="11018520" cy="1554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1E2761"/>
                </a:solidFill>
                <a:latin typeface="Calibri"/>
              </a:rPr>
              <a:t>How it was used here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Target: the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(20)</a:t>
            </a:r>
            <a:r>
              <a:rPr lang="en-US" sz="1500" dirty="0">
                <a:solidFill>
                  <a:srgbClr val="212121"/>
                </a:solidFill>
              </a:rPr>
              <a:t>binned </a:t>
            </a:r>
            <a:r>
              <a:rPr sz="1500" b="1" dirty="0">
                <a:solidFill>
                  <a:srgbClr val="212121"/>
                </a:solidFill>
                <a:latin typeface="Calibri"/>
              </a:rPr>
              <a:t>log-density ln </a:t>
            </a:r>
            <a:r>
              <a:rPr sz="1500" b="1" dirty="0" err="1">
                <a:solidFill>
                  <a:srgbClr val="212121"/>
                </a:solidFill>
                <a:latin typeface="Calibri"/>
              </a:rPr>
              <a:t>ρ</a:t>
            </a:r>
            <a:r>
              <a:rPr sz="1500" b="1" dirty="0">
                <a:solidFill>
                  <a:srgbClr val="212121"/>
                </a:solidFill>
                <a:latin typeface="Calibri"/>
              </a:rPr>
              <a:t>(s)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in one grid cell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Run on 12 cells spanning the state plane (700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7,600 events each), plus variants with unweighted bins and a wider size window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Budget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 a complexity of 8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: 624,936 formula trees per cel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l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,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~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10,300 distinct admissible functions </a:t>
            </a:r>
            <a:endParaRPr lang="en-US" sz="1500" b="0" dirty="0">
              <a:solidFill>
                <a:srgbClr val="212121"/>
              </a:solidFill>
              <a:latin typeface="Calibri"/>
            </a:endParaRPr>
          </a:p>
          <a:p>
            <a:pPr marL="685800" lvl="1" indent="-228600">
              <a:spcAft>
                <a:spcPts val="800"/>
              </a:spcAft>
              <a:buChar char="•"/>
            </a:pPr>
            <a:r>
              <a:rPr lang="en-US" sz="1500" b="0" dirty="0">
                <a:solidFill>
                  <a:srgbClr val="212121"/>
                </a:solidFill>
                <a:latin typeface="Calibri"/>
              </a:rPr>
              <a:t>Just to check – another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run at complexity 9 (4.5 million trees) </a:t>
            </a:r>
            <a:r>
              <a:rPr lang="en-US" sz="1500" b="0" dirty="0">
                <a:solidFill>
                  <a:srgbClr val="212121"/>
                </a:solidFill>
                <a:latin typeface="Calibri"/>
              </a:rPr>
              <a:t>shows only mild improvement</a:t>
            </a:r>
            <a:endParaRPr sz="1500" b="0" dirty="0">
              <a:solidFill>
                <a:srgbClr val="21212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91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3000" b="1" dirty="0">
                <a:solidFill>
                  <a:srgbClr val="1E2761"/>
                </a:solidFill>
                <a:latin typeface="Calibri"/>
              </a:rPr>
              <a:t>Symbolic Regression at Each Complexity</a:t>
            </a:r>
            <a:endParaRPr sz="3000" b="1" dirty="0">
              <a:solidFill>
                <a:srgbClr val="1E2761"/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392100"/>
              </p:ext>
            </p:extLst>
          </p:nvPr>
        </p:nvGraphicFramePr>
        <p:xfrm>
          <a:off x="640080" y="1245816"/>
          <a:ext cx="11091672" cy="2788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32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2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73152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 found</a:t>
                      </a:r>
                    </a:p>
                  </a:txBody>
                  <a:tcPr marL="73152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misfit</a:t>
                      </a:r>
                    </a:p>
                  </a:txBody>
                  <a:tcPr marL="73152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54864" marT="27432" marB="27432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761"/>
                          </a:solidFill>
                          <a:latin typeface="Cambria Math"/>
                        </a:rPr>
                        <a:t>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1.22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a straight line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761"/>
                          </a:solidFill>
                          <a:latin typeface="Cambria Math"/>
                        </a:rPr>
                        <a:t>log 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pure power law, </a:t>
                      </a:r>
                      <a:r>
                        <a:rPr sz="1300" b="0" dirty="0" err="1">
                          <a:solidFill>
                            <a:srgbClr val="212121"/>
                          </a:solidFill>
                          <a:latin typeface="Calibri"/>
                        </a:rPr>
                        <a:t>ρ</a:t>
                      </a:r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 ∝ s⁻ᵏ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761"/>
                          </a:solidFill>
                          <a:latin typeface="Cambria Math"/>
                        </a:rPr>
                        <a:t>log(s + 4.6×10⁻⁴)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power law rounded off at small 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761"/>
                          </a:solidFill>
                          <a:latin typeface="Cambria Math"/>
                        </a:rPr>
                        <a:t>√log(1/s)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0.143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fails the likelihood test (ΔAIC ≈ +20,000)</a:t>
                      </a:r>
                      <a:r>
                        <a:rPr lang="en-US" sz="1300" b="0" dirty="0">
                          <a:solidFill>
                            <a:srgbClr val="212121"/>
                          </a:solidFill>
                          <a:latin typeface="+mn-lt"/>
                        </a:rPr>
                        <a:t> [Akaike information criterion, for next time]</a:t>
                      </a:r>
                      <a:endParaRPr sz="1300" b="0" dirty="0">
                        <a:solidFill>
                          <a:srgbClr val="212121"/>
                        </a:solidFill>
                        <a:latin typeface="Calibri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761"/>
                          </a:solidFill>
                          <a:latin typeface="Cambria Math"/>
                        </a:rPr>
                        <a:t>√log(0.79/s)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0.142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same </a:t>
                      </a:r>
                      <a:r>
                        <a:rPr lang="en-US"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as above</a:t>
                      </a:r>
                      <a:endParaRPr sz="1300" b="0" dirty="0">
                        <a:solidFill>
                          <a:srgbClr val="212121"/>
                        </a:solidFill>
                        <a:latin typeface="Calibri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761"/>
                          </a:solidFill>
                          <a:latin typeface="Cambria Math"/>
                        </a:rPr>
                        <a:t>log(1/(s + 1.6×10⁻⁴) − 2.25)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the ceiling law (below)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761"/>
                          </a:solidFill>
                          <a:latin typeface="Cambria Math"/>
                        </a:rPr>
                        <a:t>s + √(−0.93 − log 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0.103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same as earlier</a:t>
                      </a:r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, </a:t>
                      </a:r>
                      <a:r>
                        <a:rPr lang="en-US"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now </a:t>
                      </a:r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with a</a:t>
                      </a:r>
                      <a:r>
                        <a:rPr lang="en-US"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nother </a:t>
                      </a:r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term; still loses under likelihood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2628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1E2761"/>
                </a:solidFill>
                <a:latin typeface="Calibri"/>
              </a:rPr>
              <a:t>How the complexity-8 form becomes the law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dirty="0">
                <a:solidFill>
                  <a:srgbClr val="212121"/>
                </a:solidFill>
                <a:latin typeface="Calibri"/>
              </a:rPr>
              <a:t>The fit is ln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ρ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=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a·f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(s) + b with f = log(1/(s +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ε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) − C).  Exponentiating: </a:t>
            </a:r>
            <a:r>
              <a:rPr sz="1400" b="1" dirty="0" err="1">
                <a:solidFill>
                  <a:srgbClr val="212121"/>
                </a:solidFill>
                <a:latin typeface="Calibri"/>
              </a:rPr>
              <a:t>ρ</a:t>
            </a:r>
            <a:r>
              <a:rPr sz="1400" b="1" dirty="0">
                <a:solidFill>
                  <a:srgbClr val="212121"/>
                </a:solidFill>
                <a:latin typeface="Calibri"/>
              </a:rPr>
              <a:t> ∝ [1/(s + </a:t>
            </a:r>
            <a:r>
              <a:rPr sz="1400" b="1" dirty="0" err="1">
                <a:solidFill>
                  <a:srgbClr val="212121"/>
                </a:solidFill>
                <a:latin typeface="Calibri"/>
              </a:rPr>
              <a:t>ε</a:t>
            </a:r>
            <a:r>
              <a:rPr sz="1400" b="1" dirty="0">
                <a:solidFill>
                  <a:srgbClr val="212121"/>
                </a:solidFill>
                <a:latin typeface="Calibri"/>
              </a:rPr>
              <a:t>) − C]ᵃ = [C(s_c − s)/(s + </a:t>
            </a:r>
            <a:r>
              <a:rPr sz="1400" b="1" dirty="0" err="1">
                <a:solidFill>
                  <a:srgbClr val="212121"/>
                </a:solidFill>
                <a:latin typeface="Calibri"/>
              </a:rPr>
              <a:t>ε</a:t>
            </a:r>
            <a:r>
              <a:rPr sz="1400" b="1" dirty="0">
                <a:solidFill>
                  <a:srgbClr val="212121"/>
                </a:solidFill>
                <a:latin typeface="Calibri"/>
              </a:rPr>
              <a:t>)]ᵃ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with </a:t>
            </a:r>
            <a:r>
              <a:rPr sz="1400" b="1" dirty="0">
                <a:solidFill>
                  <a:srgbClr val="212121"/>
                </a:solidFill>
                <a:latin typeface="Calibri"/>
              </a:rPr>
              <a:t>s_c = 1/C − </a:t>
            </a:r>
            <a:r>
              <a:rPr sz="1400" b="1" dirty="0" err="1">
                <a:solidFill>
                  <a:srgbClr val="212121"/>
                </a:solidFill>
                <a:latin typeface="Calibri"/>
              </a:rPr>
              <a:t>ε</a:t>
            </a:r>
            <a:endParaRPr sz="1400" b="1" dirty="0">
              <a:solidFill>
                <a:srgbClr val="212121"/>
              </a:solidFill>
              <a:latin typeface="Calibri"/>
            </a:endParaRP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dirty="0">
                <a:solidFill>
                  <a:srgbClr val="212121"/>
                </a:solidFill>
                <a:latin typeface="Calibri"/>
              </a:rPr>
              <a:t>So the search hands over a bounded form with tied exponents, m = k = a.  The likelihood stage then frees m from k (8 of 8 cells prefer it)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dirty="0">
                <a:solidFill>
                  <a:srgbClr val="212121"/>
                </a:solidFill>
                <a:latin typeface="Calibri"/>
              </a:rPr>
              <a:t>Complexity 9 still lowers the misfit, but only by promoting a family the likelihood had already rejected. No new family appears, and the complexity-8 knee is unchanged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libri"/>
              </a:rPr>
              <a:t>Performance: one cell, three candidate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0" y="128016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The largest cell, 6,706 events, five decades of 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Black: measured density. </a:t>
            </a:r>
            <a:r>
              <a:rPr sz="1400" b="1">
                <a:solidFill>
                  <a:srgbClr val="212121"/>
                </a:solidFill>
                <a:latin typeface="Calibri"/>
              </a:rPr>
              <a:t>Red: ceiling law</a:t>
            </a:r>
            <a:r>
              <a:rPr sz="1400" b="0">
                <a:solidFill>
                  <a:srgbClr val="212121"/>
                </a:solidFill>
                <a:latin typeface="Calibri"/>
              </a:rPr>
              <a:t>. Blue dashed: best truncated power law (TPL). Green dotted: best lognormal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All three are maximum-likelihood fits of proper densities on the same events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Only the ceiling law gets </a:t>
            </a:r>
            <a:r>
              <a:rPr sz="1400" b="1">
                <a:solidFill>
                  <a:srgbClr val="212121"/>
                </a:solidFill>
                <a:latin typeface="Calibri"/>
              </a:rPr>
              <a:t>both ends</a:t>
            </a:r>
            <a:r>
              <a:rPr sz="1400" b="0">
                <a:solidFill>
                  <a:srgbClr val="212121"/>
                </a:solidFill>
                <a:latin typeface="Calibri"/>
              </a:rPr>
              <a:t>: the flattening below 3 × 10⁻⁵ and the stop at the dotted line (s_c)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The TPL tail decays too softly and overshoots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212121"/>
                </a:solidFill>
                <a:latin typeface="Calibri"/>
              </a:rPr>
              <a:t>Full range: ceiling law over TPL by </a:t>
            </a:r>
            <a:r>
              <a:rPr sz="1400" b="1">
                <a:solidFill>
                  <a:srgbClr val="212121"/>
                </a:solidFill>
                <a:latin typeface="Calibri"/>
              </a:rPr>
              <a:t>ΔAIC 200 to 345</a:t>
            </a:r>
          </a:p>
        </p:txBody>
      </p:sp>
      <p:pic>
        <p:nvPicPr>
          <p:cNvPr id="5" name="Picture 4" descr="fig01_size_l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978408"/>
            <a:ext cx="6748272" cy="4873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1737</Words>
  <Application>Microsoft Macintosh PowerPoint</Application>
  <PresentationFormat>Widescreen</PresentationFormat>
  <Paragraphs>123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Thomas Arbaugh</cp:lastModifiedBy>
  <cp:revision>8</cp:revision>
  <dcterms:created xsi:type="dcterms:W3CDTF">2013-01-27T09:14:16Z</dcterms:created>
  <dcterms:modified xsi:type="dcterms:W3CDTF">2026-09-04T17:02:23Z</dcterms:modified>
  <cp:category/>
</cp:coreProperties>
</file>